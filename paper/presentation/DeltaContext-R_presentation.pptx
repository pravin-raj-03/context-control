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6.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2d66ac-f959-2fe2-bd7e-fd3f92de123c}">
          <p14:sldIdLst>
            <p14:sldId id="256"/>
            <p14:sldId id="257"/>
            <p14:sldId id="258"/>
            <p14:sldId id="259"/>
          </p14:sldIdLst>
        </p14:section>
        <p14:section name="Literature review" id="{e8257319-19da-d885-1095-246f4d8dcc39}">
          <p14:sldIdLst>
            <p14:sldId id="260"/>
            <p14:sldId id="261"/>
            <p14:sldId id="262"/>
            <p14:sldId id="263"/>
          </p14:sldIdLst>
        </p14:section>
        <p14:section name="Proposed work" id="{dec9437e-9ddc-8f13-af85-f356f48d8a47}">
          <p14:sldIdLst>
            <p14:sldId id="264"/>
            <p14:sldId id="265"/>
            <p14:sldId id="266"/>
            <p14:sldId id="267"/>
            <p14:sldId id="268"/>
          </p14:sldIdLst>
        </p14:section>
        <p14:section name="Results" id="{65c28aa8-b23b-fd77-296a-2b2e857a4a8c}">
          <p14:sldIdLst>
            <p14:sldId id="269"/>
            <p14:sldId id="270"/>
            <p14:sldId id="271"/>
            <p14:sldId id="272"/>
            <p14:sldId id="273"/>
          </p14:sldIdLst>
        </p14:section>
        <p14:section name="Comparisons" id="{7ada17ec-b9f5-aef2-78ac-9c15691d447d}">
          <p14:sldIdLst>
            <p14:sldId id="274"/>
            <p14:sldId id="275"/>
            <p14:sldId id="276"/>
            <p14:sldId id="277"/>
            <p14:sldId id="278"/>
            <p14:sldId id="279"/>
          </p14:sldIdLst>
        </p14:section>
        <p14:section name="Conclusion" id="{13156b61-305c-b8ef-e630-c5f35a3a35d1}">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060"/>
                </a:solidFill>
                <a:latin typeface="+mn-lt"/>
              </a:defRPr>
            </a:pPr>
            <a:r>
              <a:rPr sz="1400" b="0" i="0" u="none" strike="noStrike">
                <a:solidFill>
                  <a:srgbClr val="3A4060"/>
                </a:solidFill>
                <a:latin typeface="+mn-lt"/>
              </a:rPr>
              <a:t>Mean tokens per memory unit (test histories)</a:t>
            </a:r>
          </a:p>
        </c:rich>
      </c:tx>
      <c:layout/>
      <c:overlay val="0"/>
    </c:title>
    <c:autoTitleDeleted val="0"/>
    <c:plotArea>
      <c:layout/>
      <c:barChart>
        <c:barDir val="bar"/>
        <c:grouping val="clustered"/>
        <c:varyColors val="0"/>
        <c:ser>
          <c:idx val="0"/>
          <c:order val="0"/>
          <c:tx>
            <c:strRef>
              <c:f>Sheet1!$B$1</c:f>
              <c:strCache>
                <c:ptCount val="1"/>
                <c:pt idx="0">
                  <c:v>Mean tokens per memory unit (test histories)</c:v>
                </c:pt>
              </c:strCache>
            </c:strRef>
          </c:tx>
          <c:spPr>
            <a:solidFill>
              <a:srgbClr val="2A78D6"/>
            </a:solidFill>
            <a:effectLst/>
          </c:spPr>
          <c:invertIfNegative val="0"/>
          <c:dLbls>
            <c:numFmt formatCode="#,##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8C8C8C"/>
              </a:solidFill>
              <a:effectLst/>
            </c:spPr>
          </c:dPt>
          <c:dPt>
            <c:idx val="2"/>
            <c:invertIfNegative val="0"/>
            <c:bubble3D val="0"/>
            <c:spPr>
              <a:solidFill>
                <a:srgbClr val="8C8C8C"/>
              </a:solidFill>
              <a:effectLst/>
            </c:spPr>
          </c:dPt>
          <c:dPt>
            <c:idx val="3"/>
            <c:invertIfNegative val="0"/>
            <c:bubble3D val="0"/>
            <c:spPr>
              <a:solidFill>
                <a:srgbClr val="8C8C8C"/>
              </a:solidFill>
              <a:effectLst/>
            </c:spPr>
          </c:dPt>
          <c:dPt>
            <c:idx val="4"/>
            <c:invertIfNegative val="0"/>
            <c:bubble3D val="0"/>
            <c:spPr>
              <a:solidFill>
                <a:srgbClr val="8C8C8C"/>
              </a:solidFill>
              <a:effectLst/>
            </c:spPr>
          </c:dPt>
          <c:cat>
            <c:multiLvlStrRef>
              <c:f>Sheet1!$A$2:$A$6</c:f>
              <c:multiLvlStrCache>
                <c:ptCount val="5"/>
                <c:lvl>
                  <c:pt idx="0">
                    <c:v>User turn</c:v>
                  </c:pt>
                  <c:pt idx="1">
                    <c:v>Assistant turn</c:v>
                  </c:pt>
                  <c:pt idx="2">
                    <c:v>Exchange</c:v>
                  </c:pt>
                  <c:pt idx="3">
                    <c:v>ΔContext topic</c:v>
                  </c:pt>
                  <c:pt idx="4">
                    <c:v>Session</c:v>
                  </c:pt>
                </c:lvl>
              </c:multiLvlStrCache>
            </c:multiLvlStrRef>
          </c:cat>
          <c:val>
            <c:numRef>
              <c:f>Sheet1!$B$2:$B$6</c:f>
              <c:numCache>
                <c:formatCode>General</c:formatCode>
                <c:ptCount val="5"/>
                <c:pt idx="0">
                  <c:v>69</c:v>
                </c:pt>
                <c:pt idx="1">
                  <c:v>379</c:v>
                </c:pt>
                <c:pt idx="2">
                  <c:v>447</c:v>
                </c:pt>
                <c:pt idx="3">
                  <c:v>2322</c:v>
                </c:pt>
                <c:pt idx="4">
                  <c:v>2331</c:v>
                </c:pt>
              </c:numCache>
            </c:numRef>
          </c:val>
        </c:ser>
        <c:dLbls>
          <c:numFmt formatCode="#,##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060"/>
                </a:solidFill>
                <a:latin typeface="+mn-lt"/>
              </a:defRPr>
            </a:pPr>
            <a:endParaRPr lang="en-US"/>
          </a:p>
        </c:txPr>
        <c:crossAx val="2094734552"/>
        <c:crosses val="autoZero"/>
        <c:auto val="1"/>
        <c:lblAlgn val="ctr"/>
        <c:noMultiLvlLbl val="1"/>
      </c:catAx>
      <c:valAx>
        <c:axId val="2094734552"/>
        <c:scaling>
          <c:orientation val="minMax"/>
          <c:max val="28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060"/>
                </a:solidFill>
                <a:latin typeface="+mn-lt"/>
              </a:defRPr>
            </a:pPr>
            <a:r>
              <a:rPr sz="1400" b="0" i="0" u="none" strike="noStrike">
                <a:solidFill>
                  <a:srgbClr val="3A4060"/>
                </a:solidFill>
                <a:latin typeface="+mn-lt"/>
              </a:rPr>
              <a:t>2,048-token budget</a:t>
            </a:r>
          </a:p>
        </c:rich>
      </c:tx>
      <c:layout/>
      <c:overlay val="0"/>
    </c:title>
    <c:autoTitleDeleted val="0"/>
    <c:plotArea>
      <c:layout/>
      <c:barChart>
        <c:barDir val="bar"/>
        <c:grouping val="clustered"/>
        <c:varyColors val="0"/>
        <c:ser>
          <c:idx val="0"/>
          <c:order val="0"/>
          <c:tx>
            <c:strRef>
              <c:f>Sheet1!$B$1</c:f>
              <c:strCache>
                <c:ptCount val="1"/>
                <c:pt idx="0">
                  <c:v>2,048-token budget</c:v>
                </c:pt>
              </c:strCache>
            </c:strRef>
          </c:tx>
          <c:spPr>
            <a:solidFill>
              <a:srgbClr val="EB6834"/>
            </a:solidFill>
            <a:effectLst/>
          </c:spPr>
          <c:invertIfNegative val="0"/>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8C8C8C"/>
              </a:solidFill>
              <a:effectLst/>
            </c:spPr>
          </c:dPt>
          <c:dPt>
            <c:idx val="3"/>
            <c:invertIfNegative val="0"/>
            <c:bubble3D val="0"/>
            <c:spPr>
              <a:solidFill>
                <a:srgbClr val="EDA100"/>
              </a:solidFill>
              <a:effectLst/>
            </c:spPr>
          </c:dPt>
          <c:dPt>
            <c:idx val="4"/>
            <c:invertIfNegative val="0"/>
            <c:bubble3D val="0"/>
            <c:spPr>
              <a:solidFill>
                <a:srgbClr val="1BAF7A"/>
              </a:solidFill>
              <a:effectLst/>
            </c:spPr>
          </c:dPt>
          <c:dPt>
            <c:idx val="5"/>
            <c:invertIfNegative val="0"/>
            <c:bubble3D val="0"/>
            <c:spPr>
              <a:solidFill>
                <a:srgbClr val="2A78D6"/>
              </a:solidFill>
              <a:effectLst/>
            </c:spPr>
          </c:dPt>
          <c:cat>
            <c:multiLvlStrRef>
              <c:f>Sheet1!$A$2:$A$7</c:f>
              <c:multiLvlStrCache>
                <c:ptCount val="6"/>
                <c:lvl>
                  <c:pt idx="0">
                    <c:v>SeCom (MPNet)</c:v>
                  </c:pt>
                  <c:pt idx="1">
                    <c:v>SeCom (faithful)</c:v>
                  </c:pt>
                  <c:pt idx="2">
                    <c:v>Turn-level dense</c:v>
                  </c:pt>
                  <c:pt idx="3">
                    <c:v>Exchange-level</c:v>
                  </c:pt>
                  <c:pt idx="4">
                    <c:v>Turn-level hybrid</c:v>
                  </c:pt>
                  <c:pt idx="5">
                    <c:v>ΔContext-R (ours)</c:v>
                  </c:pt>
                </c:lvl>
              </c:multiLvlStrCache>
            </c:multiLvlStrRef>
          </c:cat>
          <c:val>
            <c:numRef>
              <c:f>Sheet1!$B$2:$B$7</c:f>
              <c:numCache>
                <c:formatCode>General</c:formatCode>
                <c:ptCount val="6"/>
                <c:pt idx="0">
                  <c:v>0.61</c:v>
                </c:pt>
                <c:pt idx="1">
                  <c:v>0.641</c:v>
                </c:pt>
                <c:pt idx="2">
                  <c:v>0.773</c:v>
                </c:pt>
                <c:pt idx="3">
                  <c:v>0.814</c:v>
                </c:pt>
                <c:pt idx="4">
                  <c:v>0.859</c:v>
                </c:pt>
                <c:pt idx="5">
                  <c:v>0.908</c:v>
                </c:pt>
              </c:numCache>
            </c:numRef>
          </c:val>
        </c:ser>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060"/>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060"/>
                </a:solidFill>
                <a:latin typeface="+mn-lt"/>
              </a:defRPr>
            </a:pPr>
            <a:r>
              <a:rPr sz="1400" b="0" i="0" u="none" strike="noStrike">
                <a:solidFill>
                  <a:srgbClr val="3A4060"/>
                </a:solidFill>
                <a:latin typeface="+mn-lt"/>
              </a:rPr>
              <a:t>4,096-token budget</a:t>
            </a:r>
          </a:p>
        </c:rich>
      </c:tx>
      <c:layout/>
      <c:overlay val="0"/>
    </c:title>
    <c:autoTitleDeleted val="0"/>
    <c:plotArea>
      <c:layout/>
      <c:barChart>
        <c:barDir val="bar"/>
        <c:grouping val="clustered"/>
        <c:varyColors val="0"/>
        <c:ser>
          <c:idx val="0"/>
          <c:order val="0"/>
          <c:tx>
            <c:strRef>
              <c:f>Sheet1!$B$1</c:f>
              <c:strCache>
                <c:ptCount val="1"/>
                <c:pt idx="0">
                  <c:v>4,096-token budget</c:v>
                </c:pt>
              </c:strCache>
            </c:strRef>
          </c:tx>
          <c:spPr>
            <a:solidFill>
              <a:srgbClr val="EB6834"/>
            </a:solidFill>
            <a:effectLst/>
          </c:spPr>
          <c:invertIfNegative val="0"/>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8C8C8C"/>
              </a:solidFill>
              <a:effectLst/>
            </c:spPr>
          </c:dPt>
          <c:dPt>
            <c:idx val="3"/>
            <c:invertIfNegative val="0"/>
            <c:bubble3D val="0"/>
            <c:spPr>
              <a:solidFill>
                <a:srgbClr val="EDA100"/>
              </a:solidFill>
              <a:effectLst/>
            </c:spPr>
          </c:dPt>
          <c:dPt>
            <c:idx val="4"/>
            <c:invertIfNegative val="0"/>
            <c:bubble3D val="0"/>
            <c:spPr>
              <a:solidFill>
                <a:srgbClr val="1BAF7A"/>
              </a:solidFill>
              <a:effectLst/>
            </c:spPr>
          </c:dPt>
          <c:dPt>
            <c:idx val="5"/>
            <c:invertIfNegative val="0"/>
            <c:bubble3D val="0"/>
            <c:spPr>
              <a:solidFill>
                <a:srgbClr val="2A78D6"/>
              </a:solidFill>
              <a:effectLst/>
            </c:spPr>
          </c:dPt>
          <c:cat>
            <c:multiLvlStrRef>
              <c:f>Sheet1!$A$2:$A$7</c:f>
              <c:multiLvlStrCache>
                <c:ptCount val="6"/>
                <c:lvl>
                  <c:pt idx="0">
                    <c:v>SeCom (MPNet)</c:v>
                  </c:pt>
                  <c:pt idx="1">
                    <c:v>SeCom (faithful)</c:v>
                  </c:pt>
                  <c:pt idx="2">
                    <c:v>Turn-level dense</c:v>
                  </c:pt>
                  <c:pt idx="3">
                    <c:v>Exchange-level</c:v>
                  </c:pt>
                  <c:pt idx="4">
                    <c:v>Turn-level hybrid</c:v>
                  </c:pt>
                  <c:pt idx="5">
                    <c:v>ΔContext-R (ours)</c:v>
                  </c:pt>
                </c:lvl>
              </c:multiLvlStrCache>
            </c:multiLvlStrRef>
          </c:cat>
          <c:val>
            <c:numRef>
              <c:f>Sheet1!$B$2:$B$7</c:f>
              <c:numCache>
                <c:formatCode>General</c:formatCode>
                <c:ptCount val="6"/>
                <c:pt idx="0">
                  <c:v>0.741</c:v>
                </c:pt>
                <c:pt idx="1">
                  <c:v>0.782</c:v>
                </c:pt>
                <c:pt idx="2">
                  <c:v>0.88</c:v>
                </c:pt>
                <c:pt idx="3">
                  <c:v>0.891</c:v>
                </c:pt>
                <c:pt idx="4">
                  <c:v>0.912</c:v>
                </c:pt>
                <c:pt idx="5">
                  <c:v>0.969</c:v>
                </c:pt>
              </c:numCache>
            </c:numRef>
          </c:val>
        </c:ser>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060"/>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060"/>
                </a:solidFill>
                <a:latin typeface="+mn-lt"/>
              </a:defRPr>
            </a:pPr>
            <a:r>
              <a:rPr sz="1400" b="0" i="0" u="none" strike="noStrike">
                <a:solidFill>
                  <a:srgbClr val="3A4060"/>
                </a:solidFill>
                <a:latin typeface="+mn-lt"/>
              </a:rPr>
              <a:t>Answer token F1, 2,048 tokens</a:t>
            </a:r>
          </a:p>
        </c:rich>
      </c:tx>
      <c:layout/>
      <c:overlay val="0"/>
    </c:title>
    <c:autoTitleDeleted val="0"/>
    <c:plotArea>
      <c:layout/>
      <c:barChart>
        <c:barDir val="bar"/>
        <c:grouping val="clustered"/>
        <c:varyColors val="0"/>
        <c:ser>
          <c:idx val="0"/>
          <c:order val="0"/>
          <c:tx>
            <c:strRef>
              <c:f>Sheet1!$B$1</c:f>
              <c:strCache>
                <c:ptCount val="1"/>
                <c:pt idx="0">
                  <c:v>Answer token F1, 2,048 tokens</c:v>
                </c:pt>
              </c:strCache>
            </c:strRef>
          </c:tx>
          <c:spPr>
            <a:solidFill>
              <a:srgbClr val="EB6834"/>
            </a:solidFill>
            <a:effectLst/>
          </c:spPr>
          <c:invertIfNegative val="0"/>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8C8C8C"/>
              </a:solidFill>
              <a:effectLst/>
            </c:spPr>
          </c:dPt>
          <c:dPt>
            <c:idx val="3"/>
            <c:invertIfNegative val="0"/>
            <c:bubble3D val="0"/>
            <c:spPr>
              <a:solidFill>
                <a:srgbClr val="EDA100"/>
              </a:solidFill>
              <a:effectLst/>
            </c:spPr>
          </c:dPt>
          <c:dPt>
            <c:idx val="4"/>
            <c:invertIfNegative val="0"/>
            <c:bubble3D val="0"/>
            <c:spPr>
              <a:solidFill>
                <a:srgbClr val="1BAF7A"/>
              </a:solidFill>
              <a:effectLst/>
            </c:spPr>
          </c:dPt>
          <c:dPt>
            <c:idx val="5"/>
            <c:invertIfNegative val="0"/>
            <c:bubble3D val="0"/>
            <c:spPr>
              <a:solidFill>
                <a:srgbClr val="2A78D6"/>
              </a:solidFill>
              <a:effectLst/>
            </c:spPr>
          </c:dPt>
          <c:cat>
            <c:multiLvlStrRef>
              <c:f>Sheet1!$A$2:$A$7</c:f>
              <c:multiLvlStrCache>
                <c:ptCount val="6"/>
                <c:lvl>
                  <c:pt idx="0">
                    <c:v>SeCom (MPNet)</c:v>
                  </c:pt>
                  <c:pt idx="1">
                    <c:v>SeCom (faithful)</c:v>
                  </c:pt>
                  <c:pt idx="2">
                    <c:v>Turn-level dense</c:v>
                  </c:pt>
                  <c:pt idx="3">
                    <c:v>Exchange-level</c:v>
                  </c:pt>
                  <c:pt idx="4">
                    <c:v>Turn-level hybrid</c:v>
                  </c:pt>
                  <c:pt idx="5">
                    <c:v>ΔContext-R (ours)</c:v>
                  </c:pt>
                </c:lvl>
              </c:multiLvlStrCache>
            </c:multiLvlStrRef>
          </c:cat>
          <c:val>
            <c:numRef>
              <c:f>Sheet1!$B$2:$B$7</c:f>
              <c:numCache>
                <c:formatCode>General</c:formatCode>
                <c:ptCount val="6"/>
                <c:pt idx="0">
                  <c:v>0.253</c:v>
                </c:pt>
                <c:pt idx="1">
                  <c:v>0.27</c:v>
                </c:pt>
                <c:pt idx="2">
                  <c:v>0.339</c:v>
                </c:pt>
                <c:pt idx="3">
                  <c:v>0.329</c:v>
                </c:pt>
                <c:pt idx="4">
                  <c:v>0.351</c:v>
                </c:pt>
                <c:pt idx="5">
                  <c:v>0.369</c:v>
                </c:pt>
              </c:numCache>
            </c:numRef>
          </c:val>
        </c:ser>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3A4060"/>
                </a:solidFill>
                <a:latin typeface="+mn-lt"/>
              </a:defRPr>
            </a:pPr>
            <a:endParaRPr lang="en-US"/>
          </a:p>
        </c:txPr>
        <c:crossAx val="2094734552"/>
        <c:crosses val="autoZero"/>
        <c:auto val="1"/>
        <c:lblAlgn val="ctr"/>
        <c:noMultiLvlLbl val="1"/>
      </c:catAx>
      <c:valAx>
        <c:axId val="2094734552"/>
        <c:scaling>
          <c:orientation val="minMax"/>
          <c:max val="0.4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060"/>
                </a:solidFill>
                <a:latin typeface="+mn-lt"/>
              </a:defRPr>
            </a:pPr>
            <a:r>
              <a:rPr sz="1400" b="0" i="0" u="none" strike="noStrike">
                <a:solidFill>
                  <a:srgbClr val="3A4060"/>
                </a:solidFill>
                <a:latin typeface="+mn-lt"/>
              </a:rPr>
              <a:t>F1 at both budgets</a:t>
            </a:r>
          </a:p>
        </c:rich>
      </c:tx>
      <c:layout/>
      <c:overlay val="0"/>
    </c:title>
    <c:autoTitleDeleted val="0"/>
    <c:plotArea>
      <c:layout/>
      <c:barChart>
        <c:barDir val="col"/>
        <c:grouping val="clustered"/>
        <c:varyColors val="0"/>
        <c:ser>
          <c:idx val="0"/>
          <c:order val="0"/>
          <c:tx>
            <c:strRef>
              <c:f>Sheet1!$B$1</c:f>
              <c:strCache>
                <c:ptCount val="1"/>
                <c:pt idx="0">
                  <c:v>2,048 tokens</c:v>
                </c:pt>
              </c:strCache>
            </c:strRef>
          </c:tx>
          <c:spPr>
            <a:solidFill>
              <a:srgbClr val="9CC3EE"/>
            </a:solidFill>
            <a:effectLst/>
          </c:spPr>
          <c:invertIfNegative val="0"/>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cat>
            <c:multiLvlStrRef>
              <c:f>Sheet1!$A$2:$A$4</c:f>
              <c:multiLvlStrCache>
                <c:ptCount val="3"/>
                <c:lvl>
                  <c:pt idx="0">
                    <c:v>SeCom</c:v>
                  </c:pt>
                  <c:pt idx="1">
                    <c:v>Turn-level hybrid</c:v>
                  </c:pt>
                  <c:pt idx="2">
                    <c:v>ΔContext-R</c:v>
                  </c:pt>
                </c:lvl>
              </c:multiLvlStrCache>
            </c:multiLvlStrRef>
          </c:cat>
          <c:val>
            <c:numRef>
              <c:f>Sheet1!$B$2:$B$4</c:f>
              <c:numCache>
                <c:formatCode>General</c:formatCode>
                <c:ptCount val="3"/>
                <c:pt idx="0">
                  <c:v>0.27</c:v>
                </c:pt>
                <c:pt idx="1">
                  <c:v>0.351</c:v>
                </c:pt>
                <c:pt idx="2">
                  <c:v>0.369</c:v>
                </c:pt>
              </c:numCache>
            </c:numRef>
          </c:val>
        </c:ser>
        <c:ser>
          <c:idx val="1"/>
          <c:order val="1"/>
          <c:tx>
            <c:strRef>
              <c:f>Sheet1!$C$1</c:f>
              <c:strCache>
                <c:ptCount val="1"/>
                <c:pt idx="0">
                  <c:v>4,096 tokens</c:v>
                </c:pt>
              </c:strCache>
            </c:strRef>
          </c:tx>
          <c:spPr>
            <a:solidFill>
              <a:srgbClr val="2A78D6"/>
            </a:solidFill>
            <a:effectLst/>
          </c:spPr>
          <c:invertIfNegative val="0"/>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cat>
            <c:multiLvlStrRef>
              <c:f>Sheet1!$A$2:$A$4</c:f>
              <c:multiLvlStrCache>
                <c:ptCount val="3"/>
                <c:lvl>
                  <c:pt idx="0">
                    <c:v>SeCom</c:v>
                  </c:pt>
                  <c:pt idx="1">
                    <c:v>Turn-level hybrid</c:v>
                  </c:pt>
                  <c:pt idx="2">
                    <c:v>ΔContext-R</c:v>
                  </c:pt>
                </c:lvl>
              </c:multiLvlStrCache>
            </c:multiLvlStrRef>
          </c:cat>
          <c:val>
            <c:numRef>
              <c:f>Sheet1!$C$2:$C$4</c:f>
              <c:numCache>
                <c:formatCode>General</c:formatCode>
                <c:ptCount val="3"/>
                <c:pt idx="0">
                  <c:v>0.26</c:v>
                </c:pt>
                <c:pt idx="1">
                  <c:v>0.258</c:v>
                </c:pt>
                <c:pt idx="2">
                  <c:v>0.31</c:v>
                </c:pt>
              </c:numCache>
            </c:numRef>
          </c:val>
        </c:ser>
        <c:dLbls>
          <c:numFmt formatCode="0.000" sourceLinked="0"/>
          <c:txPr>
            <a:bodyPr/>
            <a:lstStyle/>
            <a:p>
              <a:pPr>
                <a:defRPr b="0" i="0" strike="noStrike" sz="1200" u="none">
                  <a:solidFill>
                    <a:srgbClr val="3A406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060"/>
                </a:solidFill>
                <a:latin typeface="+mn-lt"/>
              </a:defRPr>
            </a:pPr>
            <a:endParaRPr lang="en-US"/>
          </a:p>
        </c:txPr>
        <c:crossAx val="2094734552"/>
        <c:crosses val="autoZero"/>
        <c:auto val="1"/>
        <c:lblAlgn val="ctr"/>
        <c:noMultiLvlLbl val="1"/>
      </c:catAx>
      <c:valAx>
        <c:axId val="2094734552"/>
        <c:scaling>
          <c:orientation val="minMax"/>
          <c:max val="0.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A40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3A4060"/>
                </a:solidFill>
                <a:latin typeface="+mn-lt"/>
              </a:defRPr>
            </a:pPr>
            <a:r>
              <a:rPr sz="1400" b="0" i="0" u="none" strike="noStrike">
                <a:solidFill>
                  <a:srgbClr val="3A4060"/>
                </a:solidFill>
                <a:latin typeface="+mn-lt"/>
              </a:rPr>
              <a:t>Evidence recall by question type (2,048 tokens, test)</a:t>
            </a:r>
          </a:p>
        </c:rich>
      </c:tx>
      <c:layout/>
      <c:overlay val="0"/>
    </c:title>
    <c:autoTitleDeleted val="0"/>
    <c:plotArea>
      <c:layout/>
      <c:barChart>
        <c:barDir val="col"/>
        <c:grouping val="clustered"/>
        <c:varyColors val="0"/>
        <c:ser>
          <c:idx val="0"/>
          <c:order val="0"/>
          <c:tx>
            <c:strRef>
              <c:f>Sheet1!$B$1</c:f>
              <c:strCache>
                <c:ptCount val="1"/>
                <c:pt idx="0">
                  <c:v>SeCom (faithful)</c:v>
                </c:pt>
              </c:strCache>
            </c:strRef>
          </c:tx>
          <c:spPr>
            <a:solidFill>
              <a:srgbClr val="EB683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Single-session user</c:v>
                  </c:pt>
                  <c:pt idx="1">
                    <c:v>Single-session assistant</c:v>
                  </c:pt>
                  <c:pt idx="2">
                    <c:v>Preference</c:v>
                  </c:pt>
                  <c:pt idx="3">
                    <c:v>Multi-session</c:v>
                  </c:pt>
                  <c:pt idx="4">
                    <c:v>Knowledge update</c:v>
                  </c:pt>
                  <c:pt idx="5">
                    <c:v>Temporal</c:v>
                  </c:pt>
                </c:lvl>
              </c:multiLvlStrCache>
            </c:multiLvlStrRef>
          </c:cat>
          <c:val>
            <c:numRef>
              <c:f>Sheet1!$B$2:$B$7</c:f>
              <c:numCache>
                <c:formatCode>General</c:formatCode>
                <c:ptCount val="6"/>
                <c:pt idx="0">
                  <c:v>0.938</c:v>
                </c:pt>
                <c:pt idx="1">
                  <c:v>1</c:v>
                </c:pt>
                <c:pt idx="2">
                  <c:v>0.567</c:v>
                </c:pt>
                <c:pt idx="3">
                  <c:v>0.387</c:v>
                </c:pt>
                <c:pt idx="4">
                  <c:v>0.655</c:v>
                </c:pt>
                <c:pt idx="5">
                  <c:v>0.567</c:v>
                </c:pt>
              </c:numCache>
            </c:numRef>
          </c:val>
        </c:ser>
        <c:ser>
          <c:idx val="1"/>
          <c:order val="1"/>
          <c:tx>
            <c:strRef>
              <c:f>Sheet1!$C$1</c:f>
              <c:strCache>
                <c:ptCount val="1"/>
                <c:pt idx="0">
                  <c:v>Turn-level hybrid</c:v>
                </c:pt>
              </c:strCache>
            </c:strRef>
          </c:tx>
          <c:spPr>
            <a:solidFill>
              <a:srgbClr val="1BAF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Single-session user</c:v>
                  </c:pt>
                  <c:pt idx="1">
                    <c:v>Single-session assistant</c:v>
                  </c:pt>
                  <c:pt idx="2">
                    <c:v>Preference</c:v>
                  </c:pt>
                  <c:pt idx="3">
                    <c:v>Multi-session</c:v>
                  </c:pt>
                  <c:pt idx="4">
                    <c:v>Knowledge update</c:v>
                  </c:pt>
                  <c:pt idx="5">
                    <c:v>Temporal</c:v>
                  </c:pt>
                </c:lvl>
              </c:multiLvlStrCache>
            </c:multiLvlStrRef>
          </c:cat>
          <c:val>
            <c:numRef>
              <c:f>Sheet1!$C$2:$C$7</c:f>
              <c:numCache>
                <c:formatCode>General</c:formatCode>
                <c:ptCount val="6"/>
                <c:pt idx="0">
                  <c:v>0.922</c:v>
                </c:pt>
                <c:pt idx="1">
                  <c:v>0.889</c:v>
                </c:pt>
                <c:pt idx="2">
                  <c:v>0.678</c:v>
                </c:pt>
                <c:pt idx="3">
                  <c:v>0.732</c:v>
                </c:pt>
                <c:pt idx="4">
                  <c:v>0.977</c:v>
                </c:pt>
                <c:pt idx="5">
                  <c:v>0.886</c:v>
                </c:pt>
              </c:numCache>
            </c:numRef>
          </c:val>
        </c:ser>
        <c:ser>
          <c:idx val="2"/>
          <c:order val="2"/>
          <c:tx>
            <c:strRef>
              <c:f>Sheet1!$D$1</c:f>
              <c:strCache>
                <c:ptCount val="1"/>
                <c:pt idx="0">
                  <c:v>ΔContext-R (ours)</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Single-session user</c:v>
                  </c:pt>
                  <c:pt idx="1">
                    <c:v>Single-session assistant</c:v>
                  </c:pt>
                  <c:pt idx="2">
                    <c:v>Preference</c:v>
                  </c:pt>
                  <c:pt idx="3">
                    <c:v>Multi-session</c:v>
                  </c:pt>
                  <c:pt idx="4">
                    <c:v>Knowledge update</c:v>
                  </c:pt>
                  <c:pt idx="5">
                    <c:v>Temporal</c:v>
                  </c:pt>
                </c:lvl>
              </c:multiLvlStrCache>
            </c:multiLvlStrRef>
          </c:cat>
          <c:val>
            <c:numRef>
              <c:f>Sheet1!$D$2:$D$7</c:f>
              <c:numCache>
                <c:formatCode>General</c:formatCode>
                <c:ptCount val="6"/>
                <c:pt idx="0">
                  <c:v>0.984</c:v>
                </c:pt>
                <c:pt idx="1">
                  <c:v>0.815</c:v>
                </c:pt>
                <c:pt idx="2">
                  <c:v>1</c:v>
                </c:pt>
                <c:pt idx="3">
                  <c:v>0.869</c:v>
                </c:pt>
                <c:pt idx="4">
                  <c:v>0.981</c:v>
                </c:pt>
                <c:pt idx="5">
                  <c:v>0.872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06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0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solidFill>
                <a:srgbClr val="3A40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One line: we store a growing chat as topics online with no language model, and we retrieve from that store so that a small token budget carries as much evidence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LongMemEval question comes with roughly 115 thousand tokens of past chat. Long-context models lose about 30% accuracy on such histories, so practical systems pick a few past turns for each question. We give the reader 2,048 tokens, about 2% of the history. The question for the rest of the talk: which turns should go into that small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splits into storage and retrieval. Storage: build topic units online, without an LLM and without ever moving a boundary. Retrieval: decide, under a fixed budget, which turns of which topics to read. The baseline is SeCom from ICLR 2025, the closest published system: it segments with GPT-4, compresses with LLMLingua-2 and retrieves whole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One and two are the method. Three is the controlled comparison: every system shares the budget, the prompt and the reader, and every setting was chosen on dev questions and tested once. Four is the honest part: we test what actually causes the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works from 2023 to 2026: five memory systems, then segmentation, compression and chunking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systems. MemoryBank and MemGPT manage memory but ignore how much the budget can hold. Recursive summaries lose verbatim evidence. LongMemEval studies memory design and needs an LLM to expand keys. SeCom, highlighted, is our baseline: LLM topics, compression, whole-segment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building blocks. LLMLingua-2 is SeCom's compressor. UMLF and DialSTART are the best unsupervised dialogue segmenters but run offline on finished dialogues. Chunking studies show the unit choice matters, but they rely on document structure that chat logs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Building topic memory needs an LLM call per session. Retrieving whole topics wastes a small budget, because one LongMemEval session is larger than the whole 2K window. And published topic-memory gains are not checked against topic-free controls, so nobody knows what actually drives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method: storage first, then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Storage runs once per incoming turn: encode the turn, decide topic boundaries with delayed commitment, append to the topic store. Retrieval runs once per question: rank turns and topics, fuse the ranks and boost the user's turns in the top topics, then fill the budget with a reserve for those user turns. No language model is called anywhere before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boundaries are found. To judge the gap between turns g and g+1, we wait until L more turns have arrived. Then we compare the last c turns before the gap with the L turns after it. A gap becomes a boundary only if its score is a local maximum and above a threshold. Once committed it never moves, so the store is append-only. The delay is a constant L+1 turns: 4 turns on LongMemEval.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gives every turn one score with three parts. First, how well the turn itself matches the question, from BM25 and MiniLM fused by reciprocal rank. Second, a smaller bonus if its topic matches. Third, a bonus for the user's own turns inside the three best topics. Turns fill 75% of the budget by this score; the last 25% takes the remaining user turns of every topic already read. All four parameters were set on dev questions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mechanism. A user turn averages 69 tokens; an assistant reply 379; a whole topic or session over 2,300, more than the entire budget. So ΔContext-R fits 25 turns where a plain turn ranker fits 12. And a diagnosis on dev questions showed that two thirds of the evidence a turn ranker misses sits inside topics it already read from: it was a user statement ranked too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Everything here is on the 237 answerable test questions, scored once after tuning on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LongMemEval-S gives every question its own long history with turn-level evidence labels. We split the histories 250 dev and 250 test with a fixed seed; the 237 answerable test questions are scored. Every method shares the reader, the prompt and the token counter. Settings were chosen on dev only, tested once, and differences use a paired bootstrap with Holm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quality. Against true session boundaries on 250 test histories, ΔContext has the lowest error and the best exact boundary F1, and it is the only method that never changes a boundary once made. TextTiling and semantic chunking must be re-run as the chat grows and move about 17 boundaries per 100 new turns. SeCom needs a GPT-4 call per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recall: the share of labelled evidence turns that reach the context. At 2,048 tokens ΔContext-R reaches 0.908 against 0.641 for faithful SeCom. At 4,096 it reaches 0.969, significantly above the strongest baseline, turn-level hybrid retrieval at 0.912.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token F1 with the 3B reader. At 2,048 tokens ΔContext-R has the best F1, 0.369, against 0.270 for SeCom: a 37% relative gain. A surprise: with 4,096 tokens every system answers worse, because a 3B reader handles longer contexts poorly. ΔContext-R drops least, so at 4K it beats turn-level hybrid retrieval significantly, 0.310 vs 0.258.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Comparisons: head to head with SeCom, why segment memory loses, which questions gain, and the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comparison on the test set. SeCom is re-implemented from its code: segment units, LLMLingua-2 keys, BM25 or MPNet, whole units filling the budget. Its GPT-4 segmentation needs 19 thousand API calls, so it gets ΔContext's topics cut at session starts instead. Giving SeCom our stronger retriever barely helps. ΔContext-R wins every column and builds its memory with no LLM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SeCom loses here. Each cell is dev recall when whole units are retrieved. Turns and exchanges reach 0.66 to 0.82; topics and sessions only 0.48 to 0.60, with every retriever. LLMLingua-2 denoising helps dense retrievers, as SeCom reports, but does not close the gap. Even the finest units, exchanges, reach only 0.814 on test, below ΔContext-R's 0.908.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by question type at 2K tokens. The big gains are on multi-session questions, where evidence is spread over several sessions, and on preference questions. The price: when the evidence is an assistant reply, reading the user first costs recall, 0.815 against 0.889.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part. We replaced one ingredient at a time, each control tuned on dev with its own grid. Swapping our online topics for the true sessions changes nothing, and fixed 10-turn chunks are worse: so the online topics are as good as the ground truth. But two rules with no topics at all, a global bonus for user turns and cost-aware filling, match ΔContext-R. The gain is budget-aware reading of user turns, not topic structure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limitations. One benchmark, with mostly single-topic sessions and evidence that is mostly user statements. A 3B reader scored by token F1 rather than an LLM judge. SeCom's GPT-4 segmentation replaced by an LLM-free equivalent, though the exchange-level result bounds finer segments. And the user prior costs recall when the evidence is an assistant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Wrapping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sentence: store the chat as topics online with no LLM, then spend a small budget on the user's statements in the topics that matter. Against SeCom that lifts recall from 0.64 to 0.91 and answer F1 by 37%, with zero LLM calls to build the memory. Next: test on benchmarks whose sessions mix topics, such as LoCoMo, and learn the user prior and budget split from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references; the paper lists all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Likely questions: why not run GPT-4 segmentation (19K API calls; exchange-level retrieval bounds what finer segments could reach), and why F1 drops at 4K (the 3B reader handles longer contexts worse; ΔContext-R degrades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2834640"/>
            <a:ext cx="10058400" cy="10058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94560" y="2651760"/>
            <a:ext cx="91440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2194560" y="3566160"/>
            <a:ext cx="9144000" cy="7315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ΔContext-R  |  School of Artificial Intelligence, Amrita Vishwa Vidyapeetham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ΔContext-R</a:t>
            </a:r>
            <a:endParaRPr lang="en-US" sz="5400" dirty="0"/>
          </a:p>
        </p:txBody>
      </p:sp>
      <p:sp>
        <p:nvSpPr>
          <p:cNvPr id="3" name="Text 0"/>
          <p:cNvSpPr/>
          <p:nvPr>
            <p:ph idx="101" type="body" hasCustomPrompt="1"/>
          </p:nvPr>
        </p:nvSpPr>
        <p:spPr>
          <a:xfrm>
            <a:off x="731520" y="2834640"/>
            <a:ext cx="10058400" cy="1005840"/>
          </a:xfrm>
          <a:prstGeom prst="rect">
            <a:avLst/>
          </a:prstGeom>
          <a:noFill/>
          <a:ln/>
        </p:spPr>
        <p:txBody>
          <a:bodyPr wrap="square" lIns="0" tIns="0" rIns="0" bIns="0" rtlCol="0" anchor="t"/>
          <a:lstStyle/>
          <a:p>
            <a:pPr indent="0" marL="0">
              <a:buNone/>
            </a:pPr>
            <a:r>
              <a:rPr lang="en-US" sz="2400" dirty="0">
                <a:solidFill>
                  <a:schemeClr val="bg2"/>
                </a:solidFill>
              </a:rPr>
              <a:t>Budget-aware retrieval over an online topic store for long-term conversational memory</a:t>
            </a:r>
            <a:endParaRPr lang="en-US" sz="2400" dirty="0"/>
          </a:p>
        </p:txBody>
      </p:sp>
      <p:sp>
        <p:nvSpPr>
          <p:cNvPr id="4" name="title-dot"/>
          <p:cNvSpPr/>
          <p:nvPr/>
        </p:nvSpPr>
        <p:spPr>
          <a:xfrm>
            <a:off x="731520" y="4343400"/>
            <a:ext cx="164592" cy="164592"/>
          </a:xfrm>
          <a:prstGeom prst="ellipse">
            <a:avLst/>
          </a:prstGeom>
          <a:solidFill>
            <a:schemeClr val="accent1"/>
          </a:solidFill>
          <a:ln w="12700">
            <a:solidFill>
              <a:schemeClr val="accent1"/>
            </a:solidFill>
            <a:prstDash val="solid"/>
          </a:ln>
        </p:spPr>
      </p:sp>
      <p:sp>
        <p:nvSpPr>
          <p:cNvPr id="5" name="Text 3"/>
          <p:cNvSpPr txBox="1"/>
          <p:nvPr/>
        </p:nvSpPr>
        <p:spPr>
          <a:xfrm>
            <a:off x="1051560" y="4206240"/>
            <a:ext cx="9144000" cy="457200"/>
          </a:xfrm>
          <a:prstGeom prst="rect">
            <a:avLst/>
          </a:prstGeom>
          <a:noFill/>
          <a:ln/>
        </p:spPr>
        <p:txBody>
          <a:bodyPr wrap="square" lIns="0" tIns="0" rIns="0" bIns="0" rtlCol="0" anchor="t"/>
          <a:lstStyle/>
          <a:p>
            <a:pPr indent="0" marL="0">
              <a:buNone/>
            </a:pPr>
            <a:r>
              <a:rPr lang="en-US" sz="2200" b="1" dirty="0">
                <a:solidFill>
                  <a:schemeClr val="bg1"/>
                </a:solidFill>
              </a:rPr>
              <a:t>Pravin Raj   ·   Narendra R</a:t>
            </a:r>
            <a:endParaRPr lang="en-US" sz="2200" dirty="0"/>
          </a:p>
        </p:txBody>
      </p:sp>
      <p:sp>
        <p:nvSpPr>
          <p:cNvPr id="6" name="Text 4"/>
          <p:cNvSpPr txBox="1"/>
          <p:nvPr/>
        </p:nvSpPr>
        <p:spPr>
          <a:xfrm>
            <a:off x="1051560" y="4663440"/>
            <a:ext cx="9144000" cy="411480"/>
          </a:xfrm>
          <a:prstGeom prst="rect">
            <a:avLst/>
          </a:prstGeom>
          <a:noFill/>
          <a:ln/>
        </p:spPr>
        <p:txBody>
          <a:bodyPr wrap="square" lIns="0" tIns="0" rIns="0" bIns="0" rtlCol="0" anchor="t"/>
          <a:lstStyle/>
          <a:p>
            <a:pPr indent="0" marL="0">
              <a:buNone/>
            </a:pPr>
            <a:r>
              <a:rPr lang="en-US" sz="1800" dirty="0">
                <a:solidFill>
                  <a:schemeClr val="bg2"/>
                </a:solidFill>
              </a:rPr>
              <a:t>School of Artificial Intelligence, Amrita Vishwa Vidyapeetham, India</a:t>
            </a:r>
            <a:endParaRPr lang="en-US" sz="1800" dirty="0"/>
          </a:p>
        </p:txBody>
      </p:sp>
      <p:sp>
        <p:nvSpPr>
          <p:cNvPr id="7" name="Text 5"/>
          <p:cNvSpPr txBox="1"/>
          <p:nvPr/>
        </p:nvSpPr>
        <p:spPr>
          <a:xfrm>
            <a:off x="1051560" y="5760720"/>
            <a:ext cx="9144000" cy="365760"/>
          </a:xfrm>
          <a:prstGeom prst="rect">
            <a:avLst/>
          </a:prstGeom>
          <a:noFill/>
          <a:ln/>
        </p:spPr>
        <p:txBody>
          <a:bodyPr wrap="square" lIns="0" tIns="0" rIns="0" bIns="0" rtlCol="0" anchor="t"/>
          <a:lstStyle/>
          <a:p>
            <a:pPr indent="0" marL="0">
              <a:buNone/>
            </a:pPr>
            <a:r>
              <a:rPr lang="en-US" sz="1400" i="1" dirty="0">
                <a:solidFill>
                  <a:srgbClr val="A9B4D0"/>
                </a:solidFill>
              </a:rPr>
              <a:t>Evaluated on LongMemEval-S against SeCom (ICLR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A chat assistant's memory outgrows its context window</a:t>
            </a:r>
            <a:endParaRPr lang="en-US" sz="3000" dirty="0"/>
          </a:p>
        </p:txBody>
      </p:sp>
      <p:sp>
        <p:nvSpPr>
          <p:cNvPr id="4" name="Text 1"/>
          <p:cNvSpPr txBox="1"/>
          <p:nvPr/>
        </p:nvSpPr>
        <p:spPr>
          <a:xfrm>
            <a:off x="548640" y="1417320"/>
            <a:ext cx="47548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≈115K tokens</a:t>
            </a:r>
            <a:endParaRPr lang="en-US" sz="4000" dirty="0"/>
          </a:p>
        </p:txBody>
      </p:sp>
      <p:sp>
        <p:nvSpPr>
          <p:cNvPr id="5" name="Text 2"/>
          <p:cNvSpPr txBox="1"/>
          <p:nvPr/>
        </p:nvSpPr>
        <p:spPr>
          <a:xfrm>
            <a:off x="548640" y="2130552"/>
            <a:ext cx="4754880" cy="685800"/>
          </a:xfrm>
          <a:prstGeom prst="rect">
            <a:avLst/>
          </a:prstGeom>
          <a:noFill/>
          <a:ln/>
        </p:spPr>
        <p:txBody>
          <a:bodyPr wrap="square" lIns="0" tIns="0" rIns="0" bIns="0" rtlCol="0" anchor="t"/>
          <a:lstStyle/>
          <a:p>
            <a:pPr indent="0" marL="0">
              <a:buNone/>
            </a:pPr>
            <a:r>
              <a:rPr lang="en-US" sz="1500" dirty="0">
                <a:solidFill>
                  <a:schemeClr val="tx2"/>
                </a:solidFill>
              </a:rPr>
              <a:t>of chat history behind each LongMemEval question (≈490 turns, ≈48 sessions)</a:t>
            </a:r>
            <a:endParaRPr lang="en-US" sz="1500" dirty="0"/>
          </a:p>
        </p:txBody>
      </p:sp>
      <p:sp>
        <p:nvSpPr>
          <p:cNvPr id="6" name="Text 3"/>
          <p:cNvSpPr txBox="1"/>
          <p:nvPr/>
        </p:nvSpPr>
        <p:spPr>
          <a:xfrm>
            <a:off x="548640" y="2971800"/>
            <a:ext cx="475488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≈30% drop</a:t>
            </a:r>
            <a:endParaRPr lang="en-US" sz="4000" dirty="0"/>
          </a:p>
        </p:txBody>
      </p:sp>
      <p:sp>
        <p:nvSpPr>
          <p:cNvPr id="7" name="Text 4"/>
          <p:cNvSpPr txBox="1"/>
          <p:nvPr/>
        </p:nvSpPr>
        <p:spPr>
          <a:xfrm>
            <a:off x="548640" y="3685032"/>
            <a:ext cx="4754880" cy="685800"/>
          </a:xfrm>
          <a:prstGeom prst="rect">
            <a:avLst/>
          </a:prstGeom>
          <a:noFill/>
          <a:ln/>
        </p:spPr>
        <p:txBody>
          <a:bodyPr wrap="square" lIns="0" tIns="0" rIns="0" bIns="0" rtlCol="0" anchor="t"/>
          <a:lstStyle/>
          <a:p>
            <a:pPr indent="0" marL="0">
              <a:buNone/>
            </a:pPr>
            <a:r>
              <a:rPr lang="en-US" sz="1500" dirty="0">
                <a:solidFill>
                  <a:schemeClr val="tx2"/>
                </a:solidFill>
              </a:rPr>
              <a:t>in accuracy for long-context LLMs on such histories (LongMemEval, ICLR 2025)</a:t>
            </a:r>
            <a:endParaRPr lang="en-US" sz="1500" dirty="0"/>
          </a:p>
        </p:txBody>
      </p:sp>
      <p:sp>
        <p:nvSpPr>
          <p:cNvPr id="8" name="Text 5"/>
          <p:cNvSpPr txBox="1"/>
          <p:nvPr/>
        </p:nvSpPr>
        <p:spPr>
          <a:xfrm>
            <a:off x="548640" y="4526280"/>
            <a:ext cx="475488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2,048 tokens</a:t>
            </a:r>
            <a:endParaRPr lang="en-US" sz="4000" dirty="0"/>
          </a:p>
        </p:txBody>
      </p:sp>
      <p:sp>
        <p:nvSpPr>
          <p:cNvPr id="9" name="Text 6"/>
          <p:cNvSpPr txBox="1"/>
          <p:nvPr/>
        </p:nvSpPr>
        <p:spPr>
          <a:xfrm>
            <a:off x="548640" y="5239512"/>
            <a:ext cx="4754880" cy="685800"/>
          </a:xfrm>
          <a:prstGeom prst="rect">
            <a:avLst/>
          </a:prstGeom>
          <a:noFill/>
          <a:ln/>
        </p:spPr>
        <p:txBody>
          <a:bodyPr wrap="square" lIns="0" tIns="0" rIns="0" bIns="0" rtlCol="0" anchor="t"/>
          <a:lstStyle/>
          <a:p>
            <a:pPr indent="0" marL="0">
              <a:buNone/>
            </a:pPr>
            <a:r>
              <a:rPr lang="en-US" sz="1500" dirty="0">
                <a:solidFill>
                  <a:schemeClr val="tx2"/>
                </a:solidFill>
              </a:rPr>
              <a:t>is the context budget the reader gets here: about 2% of the history</a:t>
            </a:r>
            <a:endParaRPr lang="en-US" sz="1500" dirty="0"/>
          </a:p>
        </p:txBody>
      </p:sp>
      <p:sp>
        <p:nvSpPr>
          <p:cNvPr id="10" name="session-0"/>
          <p:cNvSpPr/>
          <p:nvPr/>
        </p:nvSpPr>
        <p:spPr>
          <a:xfrm>
            <a:off x="5852160" y="1600200"/>
            <a:ext cx="2103120" cy="457200"/>
          </a:xfrm>
          <a:prstGeom prst="roundRect">
            <a:avLst>
              <a:gd name="adj" fmla="val 10000"/>
            </a:avLst>
          </a:prstGeom>
          <a:solidFill>
            <a:schemeClr val="bg2"/>
          </a:solidFill>
          <a:ln w="12700">
            <a:solidFill>
              <a:srgbClr val="D5D9E2"/>
            </a:solidFill>
            <a:prstDash val="solid"/>
          </a:ln>
        </p:spPr>
      </p:sp>
      <p:sp>
        <p:nvSpPr>
          <p:cNvPr id="11" name="Text 8"/>
          <p:cNvSpPr txBox="1"/>
          <p:nvPr/>
        </p:nvSpPr>
        <p:spPr>
          <a:xfrm>
            <a:off x="5943600" y="1600200"/>
            <a:ext cx="1920240" cy="457200"/>
          </a:xfrm>
          <a:prstGeom prst="rect">
            <a:avLst/>
          </a:prstGeom>
          <a:noFill/>
          <a:ln/>
        </p:spPr>
        <p:txBody>
          <a:bodyPr wrap="square" lIns="0" tIns="0" rIns="0" bIns="0" rtlCol="0" anchor="ctr"/>
          <a:lstStyle/>
          <a:p>
            <a:pPr indent="0" marL="0">
              <a:buNone/>
            </a:pPr>
            <a:r>
              <a:rPr lang="en-US" sz="1400" dirty="0">
                <a:solidFill>
                  <a:schemeClr val="tx2"/>
                </a:solidFill>
              </a:rPr>
              <a:t>Session 1</a:t>
            </a:r>
            <a:endParaRPr lang="en-US" sz="1400" dirty="0"/>
          </a:p>
        </p:txBody>
      </p:sp>
      <p:sp>
        <p:nvSpPr>
          <p:cNvPr id="12" name="session-1"/>
          <p:cNvSpPr/>
          <p:nvPr/>
        </p:nvSpPr>
        <p:spPr>
          <a:xfrm>
            <a:off x="5916168" y="2148840"/>
            <a:ext cx="2103120" cy="457200"/>
          </a:xfrm>
          <a:prstGeom prst="roundRect">
            <a:avLst>
              <a:gd name="adj" fmla="val 10000"/>
            </a:avLst>
          </a:prstGeom>
          <a:solidFill>
            <a:schemeClr val="bg2"/>
          </a:solidFill>
          <a:ln w="12700">
            <a:solidFill>
              <a:srgbClr val="D5D9E2"/>
            </a:solidFill>
            <a:prstDash val="solid"/>
          </a:ln>
        </p:spPr>
      </p:sp>
      <p:sp>
        <p:nvSpPr>
          <p:cNvPr id="13" name="Text 10"/>
          <p:cNvSpPr txBox="1"/>
          <p:nvPr/>
        </p:nvSpPr>
        <p:spPr>
          <a:xfrm>
            <a:off x="6007608" y="2148840"/>
            <a:ext cx="1920240" cy="457200"/>
          </a:xfrm>
          <a:prstGeom prst="rect">
            <a:avLst/>
          </a:prstGeom>
          <a:noFill/>
          <a:ln/>
        </p:spPr>
        <p:txBody>
          <a:bodyPr wrap="square" lIns="0" tIns="0" rIns="0" bIns="0" rtlCol="0" anchor="ctr"/>
          <a:lstStyle/>
          <a:p>
            <a:pPr indent="0" marL="0">
              <a:buNone/>
            </a:pPr>
            <a:r>
              <a:rPr lang="en-US" sz="1400" dirty="0">
                <a:solidFill>
                  <a:schemeClr val="tx2"/>
                </a:solidFill>
              </a:rPr>
              <a:t>Session 2</a:t>
            </a:r>
            <a:endParaRPr lang="en-US" sz="1400" dirty="0"/>
          </a:p>
        </p:txBody>
      </p:sp>
      <p:sp>
        <p:nvSpPr>
          <p:cNvPr id="14" name="session-2"/>
          <p:cNvSpPr/>
          <p:nvPr/>
        </p:nvSpPr>
        <p:spPr>
          <a:xfrm>
            <a:off x="5980176" y="2697480"/>
            <a:ext cx="2103120" cy="457200"/>
          </a:xfrm>
          <a:prstGeom prst="roundRect">
            <a:avLst>
              <a:gd name="adj" fmla="val 10000"/>
            </a:avLst>
          </a:prstGeom>
          <a:solidFill>
            <a:schemeClr val="bg2"/>
          </a:solidFill>
          <a:ln w="12700">
            <a:solidFill>
              <a:srgbClr val="D5D9E2"/>
            </a:solidFill>
            <a:prstDash val="solid"/>
          </a:ln>
        </p:spPr>
      </p:sp>
      <p:sp>
        <p:nvSpPr>
          <p:cNvPr id="15" name="Text 12"/>
          <p:cNvSpPr txBox="1"/>
          <p:nvPr/>
        </p:nvSpPr>
        <p:spPr>
          <a:xfrm>
            <a:off x="6071616" y="2697480"/>
            <a:ext cx="1920240" cy="457200"/>
          </a:xfrm>
          <a:prstGeom prst="rect">
            <a:avLst/>
          </a:prstGeom>
          <a:noFill/>
          <a:ln/>
        </p:spPr>
        <p:txBody>
          <a:bodyPr wrap="square" lIns="0" tIns="0" rIns="0" bIns="0" rtlCol="0" anchor="ctr"/>
          <a:lstStyle/>
          <a:p>
            <a:pPr indent="0" marL="0">
              <a:buNone/>
            </a:pPr>
            <a:r>
              <a:rPr lang="en-US" sz="1400" dirty="0">
                <a:solidFill>
                  <a:schemeClr val="tx2"/>
                </a:solidFill>
              </a:rPr>
              <a:t>Session 3</a:t>
            </a:r>
            <a:endParaRPr lang="en-US" sz="1400" dirty="0"/>
          </a:p>
        </p:txBody>
      </p:sp>
      <p:sp>
        <p:nvSpPr>
          <p:cNvPr id="16" name="session-3"/>
          <p:cNvSpPr/>
          <p:nvPr/>
        </p:nvSpPr>
        <p:spPr>
          <a:xfrm>
            <a:off x="6044184" y="3246120"/>
            <a:ext cx="2103120" cy="457200"/>
          </a:xfrm>
          <a:prstGeom prst="roundRect">
            <a:avLst>
              <a:gd name="adj" fmla="val 10000"/>
            </a:avLst>
          </a:prstGeom>
          <a:solidFill>
            <a:schemeClr val="bg2"/>
          </a:solidFill>
          <a:ln w="12700">
            <a:solidFill>
              <a:srgbClr val="D5D9E2"/>
            </a:solidFill>
            <a:prstDash val="solid"/>
          </a:ln>
        </p:spPr>
      </p:sp>
      <p:sp>
        <p:nvSpPr>
          <p:cNvPr id="17" name="Text 14"/>
          <p:cNvSpPr txBox="1"/>
          <p:nvPr/>
        </p:nvSpPr>
        <p:spPr>
          <a:xfrm>
            <a:off x="6135624" y="3246120"/>
            <a:ext cx="1920240" cy="457200"/>
          </a:xfrm>
          <a:prstGeom prst="rect">
            <a:avLst/>
          </a:prstGeom>
          <a:noFill/>
          <a:ln/>
        </p:spPr>
        <p:txBody>
          <a:bodyPr wrap="square" lIns="0" tIns="0" rIns="0" bIns="0" rtlCol="0" anchor="ctr"/>
          <a:lstStyle/>
          <a:p>
            <a:pPr indent="0" marL="0">
              <a:buNone/>
            </a:pPr>
            <a:r>
              <a:rPr lang="en-US" sz="1400" dirty="0">
                <a:solidFill>
                  <a:schemeClr val="tx2"/>
                </a:solidFill>
              </a:rPr>
              <a:t>Session 4</a:t>
            </a:r>
            <a:endParaRPr lang="en-US" sz="1400" dirty="0"/>
          </a:p>
        </p:txBody>
      </p:sp>
      <p:sp>
        <p:nvSpPr>
          <p:cNvPr id="18" name="session-4"/>
          <p:cNvSpPr/>
          <p:nvPr/>
        </p:nvSpPr>
        <p:spPr>
          <a:xfrm>
            <a:off x="6108192" y="3794760"/>
            <a:ext cx="2103120" cy="457200"/>
          </a:xfrm>
          <a:prstGeom prst="roundRect">
            <a:avLst>
              <a:gd name="adj" fmla="val 10000"/>
            </a:avLst>
          </a:prstGeom>
          <a:solidFill>
            <a:schemeClr val="bg2"/>
          </a:solidFill>
          <a:ln w="12700">
            <a:solidFill>
              <a:srgbClr val="D5D9E2"/>
            </a:solidFill>
            <a:prstDash val="solid"/>
          </a:ln>
        </p:spPr>
      </p:sp>
      <p:sp>
        <p:nvSpPr>
          <p:cNvPr id="19" name="Text 16"/>
          <p:cNvSpPr txBox="1"/>
          <p:nvPr/>
        </p:nvSpPr>
        <p:spPr>
          <a:xfrm>
            <a:off x="6199632" y="3794760"/>
            <a:ext cx="1920240" cy="457200"/>
          </a:xfrm>
          <a:prstGeom prst="rect">
            <a:avLst/>
          </a:prstGeom>
          <a:noFill/>
          <a:ln/>
        </p:spPr>
        <p:txBody>
          <a:bodyPr wrap="square" lIns="0" tIns="0" rIns="0" bIns="0" rtlCol="0" anchor="ctr"/>
          <a:lstStyle/>
          <a:p>
            <a:pPr indent="0" marL="0">
              <a:buNone/>
            </a:pPr>
            <a:r>
              <a:rPr lang="en-US" sz="1400" dirty="0">
                <a:solidFill>
                  <a:schemeClr val="tx2"/>
                </a:solidFill>
              </a:rPr>
              <a:t>…</a:t>
            </a:r>
            <a:endParaRPr lang="en-US" sz="1400" dirty="0"/>
          </a:p>
        </p:txBody>
      </p:sp>
      <p:sp>
        <p:nvSpPr>
          <p:cNvPr id="20" name="session-5"/>
          <p:cNvSpPr/>
          <p:nvPr/>
        </p:nvSpPr>
        <p:spPr>
          <a:xfrm>
            <a:off x="6172200" y="4343400"/>
            <a:ext cx="2103120" cy="457200"/>
          </a:xfrm>
          <a:prstGeom prst="roundRect">
            <a:avLst>
              <a:gd name="adj" fmla="val 10000"/>
            </a:avLst>
          </a:prstGeom>
          <a:solidFill>
            <a:schemeClr val="bg2"/>
          </a:solidFill>
          <a:ln w="12700">
            <a:solidFill>
              <a:srgbClr val="D5D9E2"/>
            </a:solidFill>
            <a:prstDash val="solid"/>
          </a:ln>
        </p:spPr>
      </p:sp>
      <p:sp>
        <p:nvSpPr>
          <p:cNvPr id="21" name="Text 18"/>
          <p:cNvSpPr txBox="1"/>
          <p:nvPr/>
        </p:nvSpPr>
        <p:spPr>
          <a:xfrm>
            <a:off x="6263640" y="4343400"/>
            <a:ext cx="1920240" cy="457200"/>
          </a:xfrm>
          <a:prstGeom prst="rect">
            <a:avLst/>
          </a:prstGeom>
          <a:noFill/>
          <a:ln/>
        </p:spPr>
        <p:txBody>
          <a:bodyPr wrap="square" lIns="0" tIns="0" rIns="0" bIns="0" rtlCol="0" anchor="ctr"/>
          <a:lstStyle/>
          <a:p>
            <a:pPr indent="0" marL="0">
              <a:buNone/>
            </a:pPr>
            <a:r>
              <a:rPr lang="en-US" sz="1400" dirty="0">
                <a:solidFill>
                  <a:schemeClr val="tx2"/>
                </a:solidFill>
              </a:rPr>
              <a:t>Session 48</a:t>
            </a:r>
            <a:endParaRPr lang="en-US" sz="1400" dirty="0"/>
          </a:p>
        </p:txBody>
      </p:sp>
      <p:sp>
        <p:nvSpPr>
          <p:cNvPr id="22" name="Text 19"/>
          <p:cNvSpPr txBox="1"/>
          <p:nvPr/>
        </p:nvSpPr>
        <p:spPr>
          <a:xfrm>
            <a:off x="5760720" y="4983480"/>
            <a:ext cx="2743200" cy="365760"/>
          </a:xfrm>
          <a:prstGeom prst="rect">
            <a:avLst/>
          </a:prstGeom>
          <a:noFill/>
          <a:ln/>
        </p:spPr>
        <p:txBody>
          <a:bodyPr wrap="square" lIns="0" tIns="0" rIns="0" bIns="0" rtlCol="0" anchor="t"/>
          <a:lstStyle/>
          <a:p>
            <a:pPr indent="0" marL="0">
              <a:buNone/>
            </a:pPr>
            <a:r>
              <a:rPr lang="en-US" sz="1300" i="1" dirty="0">
                <a:solidFill>
                  <a:schemeClr val="accent6"/>
                </a:solidFill>
              </a:rPr>
              <a:t>Chat history (grows every day)</a:t>
            </a:r>
            <a:endParaRPr lang="en-US" sz="1300" dirty="0"/>
          </a:p>
        </p:txBody>
      </p:sp>
      <p:sp>
        <p:nvSpPr>
          <p:cNvPr id="23" name="Shape 20"/>
          <p:cNvSpPr/>
          <p:nvPr/>
        </p:nvSpPr>
        <p:spPr>
          <a:xfrm>
            <a:off x="8275320" y="2971800"/>
            <a:ext cx="731520" cy="914"/>
          </a:xfrm>
          <a:prstGeom prst="line">
            <a:avLst/>
          </a:prstGeom>
          <a:noFill/>
          <a:ln w="22225">
            <a:solidFill>
              <a:srgbClr val="6B7280"/>
            </a:solidFill>
            <a:prstDash val="solid"/>
            <a:tailEnd type="triangle"/>
          </a:ln>
        </p:spPr>
      </p:sp>
      <p:sp>
        <p:nvSpPr>
          <p:cNvPr id="24" name="Text 21"/>
          <p:cNvSpPr txBox="1"/>
          <p:nvPr/>
        </p:nvSpPr>
        <p:spPr>
          <a:xfrm>
            <a:off x="8229600" y="2560320"/>
            <a:ext cx="822960" cy="320040"/>
          </a:xfrm>
          <a:prstGeom prst="rect">
            <a:avLst/>
          </a:prstGeom>
          <a:noFill/>
          <a:ln/>
        </p:spPr>
        <p:txBody>
          <a:bodyPr wrap="square" lIns="0" tIns="0" rIns="0" bIns="0" rtlCol="0" anchor="t"/>
          <a:lstStyle/>
          <a:p>
            <a:pPr algn="ctr" indent="0" marL="0">
              <a:buNone/>
            </a:pPr>
            <a:r>
              <a:rPr lang="en-US" sz="1300" dirty="0">
                <a:solidFill>
                  <a:schemeClr val="accent6"/>
                </a:solidFill>
              </a:rPr>
              <a:t>select</a:t>
            </a:r>
            <a:endParaRPr lang="en-US" sz="1300" dirty="0"/>
          </a:p>
        </p:txBody>
      </p:sp>
      <p:sp>
        <p:nvSpPr>
          <p:cNvPr id="25" name="context-box"/>
          <p:cNvSpPr/>
          <p:nvPr/>
        </p:nvSpPr>
        <p:spPr>
          <a:xfrm>
            <a:off x="9098280" y="2514600"/>
            <a:ext cx="1325880" cy="914400"/>
          </a:xfrm>
          <a:prstGeom prst="roundRect">
            <a:avLst>
              <a:gd name="adj" fmla="val 8000"/>
            </a:avLst>
          </a:prstGeom>
          <a:solidFill>
            <a:srgbClr val="EAF2FC"/>
          </a:solidFill>
          <a:ln w="12700">
            <a:solidFill>
              <a:srgbClr val="EAF2FC"/>
            </a:solidFill>
            <a:prstDash val="solid"/>
          </a:ln>
        </p:spPr>
      </p:sp>
      <p:sp>
        <p:nvSpPr>
          <p:cNvPr id="26" name="Text 23"/>
          <p:cNvSpPr txBox="1"/>
          <p:nvPr/>
        </p:nvSpPr>
        <p:spPr>
          <a:xfrm>
            <a:off x="9098280" y="2514600"/>
            <a:ext cx="1325880" cy="914400"/>
          </a:xfrm>
          <a:prstGeom prst="rect">
            <a:avLst/>
          </a:prstGeom>
          <a:noFill/>
          <a:ln/>
        </p:spPr>
        <p:txBody>
          <a:bodyPr wrap="square" lIns="0" tIns="0" rIns="0" bIns="0" rtlCol="0" anchor="ctr"/>
          <a:lstStyle/>
          <a:p>
            <a:pPr algn="ctr" indent="0" marL="0">
              <a:buNone/>
            </a:pPr>
            <a:r>
              <a:rPr lang="en-US" sz="1400" b="1" dirty="0">
                <a:solidFill>
                  <a:schemeClr val="accent1"/>
                </a:solidFill>
              </a:rPr>
              <a:t>Context</a:t>
            </a:r>
            <a:endParaRPr lang="en-US" sz="1400" dirty="0"/>
          </a:p>
          <a:p>
            <a:pPr algn="ctr" indent="0" marL="0">
              <a:buNone/>
            </a:pPr>
            <a:r>
              <a:rPr lang="en-US" sz="1400" b="1" dirty="0">
                <a:solidFill>
                  <a:schemeClr val="accent1"/>
                </a:solidFill>
              </a:rPr>
              <a:t>2K tokens</a:t>
            </a:r>
            <a:endParaRPr lang="en-US" sz="1400" dirty="0"/>
          </a:p>
        </p:txBody>
      </p:sp>
      <p:sp>
        <p:nvSpPr>
          <p:cNvPr id="27" name="Shape 24"/>
          <p:cNvSpPr/>
          <p:nvPr/>
        </p:nvSpPr>
        <p:spPr>
          <a:xfrm>
            <a:off x="10469880" y="2971800"/>
            <a:ext cx="457200" cy="914"/>
          </a:xfrm>
          <a:prstGeom prst="line">
            <a:avLst/>
          </a:prstGeom>
          <a:noFill/>
          <a:ln w="22225">
            <a:solidFill>
              <a:srgbClr val="6B7280"/>
            </a:solidFill>
            <a:prstDash val="solid"/>
            <a:tailEnd type="triangle"/>
          </a:ln>
        </p:spPr>
      </p:sp>
      <p:sp>
        <p:nvSpPr>
          <p:cNvPr id="28" name="llm"/>
          <p:cNvSpPr/>
          <p:nvPr/>
        </p:nvSpPr>
        <p:spPr>
          <a:xfrm>
            <a:off x="10972800" y="2560320"/>
            <a:ext cx="822960" cy="822960"/>
          </a:xfrm>
          <a:prstGeom prst="ellipse">
            <a:avLst/>
          </a:prstGeom>
          <a:solidFill>
            <a:schemeClr val="tx1"/>
          </a:solidFill>
          <a:ln w="12700">
            <a:solidFill>
              <a:schemeClr val="tx1"/>
            </a:solidFill>
            <a:prstDash val="solid"/>
          </a:ln>
        </p:spPr>
      </p:sp>
      <p:sp>
        <p:nvSpPr>
          <p:cNvPr id="29" name="Text 26"/>
          <p:cNvSpPr txBox="1"/>
          <p:nvPr/>
        </p:nvSpPr>
        <p:spPr>
          <a:xfrm>
            <a:off x="10972800" y="2560320"/>
            <a:ext cx="822960" cy="822960"/>
          </a:xfrm>
          <a:prstGeom prst="rect">
            <a:avLst/>
          </a:prstGeom>
          <a:noFill/>
          <a:ln/>
        </p:spPr>
        <p:txBody>
          <a:bodyPr wrap="square" lIns="0" tIns="0" rIns="0" bIns="0" rtlCol="0" anchor="ctr"/>
          <a:lstStyle/>
          <a:p>
            <a:pPr algn="ctr" indent="0" marL="0">
              <a:buNone/>
            </a:pPr>
            <a:r>
              <a:rPr lang="en-US" sz="1500" b="1" dirty="0">
                <a:solidFill>
                  <a:schemeClr val="bg1"/>
                </a:solidFill>
              </a:rPr>
              <a:t>LLM</a:t>
            </a:r>
            <a:endParaRPr lang="en-US" sz="1500" dirty="0"/>
          </a:p>
        </p:txBody>
      </p:sp>
      <p:sp>
        <p:nvSpPr>
          <p:cNvPr id="30" name="question-box"/>
          <p:cNvSpPr/>
          <p:nvPr/>
        </p:nvSpPr>
        <p:spPr>
          <a:xfrm>
            <a:off x="5760720" y="5486400"/>
            <a:ext cx="6035040" cy="640080"/>
          </a:xfrm>
          <a:prstGeom prst="roundRect">
            <a:avLst>
              <a:gd name="adj" fmla="val 11429"/>
            </a:avLst>
          </a:prstGeom>
          <a:solidFill>
            <a:schemeClr val="bg2"/>
          </a:solidFill>
          <a:ln w="12700">
            <a:solidFill>
              <a:schemeClr val="bg2"/>
            </a:solidFill>
            <a:prstDash val="solid"/>
          </a:ln>
        </p:spPr>
      </p:sp>
      <p:sp>
        <p:nvSpPr>
          <p:cNvPr id="31" name="Text 28"/>
          <p:cNvSpPr txBox="1"/>
          <p:nvPr/>
        </p:nvSpPr>
        <p:spPr>
          <a:xfrm>
            <a:off x="5943600" y="5486400"/>
            <a:ext cx="5760720" cy="640080"/>
          </a:xfrm>
          <a:prstGeom prst="rect">
            <a:avLst/>
          </a:prstGeom>
          <a:noFill/>
          <a:ln/>
        </p:spPr>
        <p:txBody>
          <a:bodyPr wrap="square" lIns="0" tIns="0" rIns="0" bIns="0" rtlCol="0" anchor="ctr"/>
          <a:lstStyle/>
          <a:p>
            <a:pPr indent="0" marL="0">
              <a:buNone/>
            </a:pPr>
            <a:r>
              <a:rPr lang="en-US" sz="1800" b="1" dirty="0">
                <a:solidFill>
                  <a:schemeClr val="tx1"/>
                </a:solidFill>
              </a:rPr>
              <a:t>Which turns should the model see?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Two questions, two answers</a:t>
            </a:r>
            <a:endParaRPr lang="en-US" sz="3000" dirty="0"/>
          </a:p>
        </p:txBody>
      </p:sp>
      <p:sp>
        <p:nvSpPr>
          <p:cNvPr id="4" name="q-card-1"/>
          <p:cNvSpPr/>
          <p:nvPr/>
        </p:nvSpPr>
        <p:spPr>
          <a:xfrm>
            <a:off x="548640" y="1417320"/>
            <a:ext cx="5394960" cy="3063240"/>
          </a:xfrm>
          <a:prstGeom prst="roundRect">
            <a:avLst>
              <a:gd name="adj" fmla="val 2388"/>
            </a:avLst>
          </a:prstGeom>
          <a:solidFill>
            <a:schemeClr val="bg2"/>
          </a:solidFill>
          <a:ln w="12700">
            <a:solidFill>
              <a:schemeClr val="bg2"/>
            </a:solidFill>
            <a:prstDash val="solid"/>
          </a:ln>
        </p:spPr>
      </p:sp>
      <p:sp>
        <p:nvSpPr>
          <p:cNvPr id="5" name="badge-1"/>
          <p:cNvSpPr/>
          <p:nvPr/>
        </p:nvSpPr>
        <p:spPr>
          <a:xfrm>
            <a:off x="868680" y="1691640"/>
            <a:ext cx="640080" cy="640080"/>
          </a:xfrm>
          <a:prstGeom prst="ellipse">
            <a:avLst/>
          </a:prstGeom>
          <a:solidFill>
            <a:schemeClr val="accent1"/>
          </a:solidFill>
          <a:ln w="12700">
            <a:solidFill>
              <a:schemeClr val="accent1"/>
            </a:solidFill>
            <a:prstDash val="solid"/>
          </a:ln>
        </p:spPr>
      </p:sp>
      <p:sp>
        <p:nvSpPr>
          <p:cNvPr id="6" name="Text 3"/>
          <p:cNvSpPr txBox="1"/>
          <p:nvPr/>
        </p:nvSpPr>
        <p:spPr>
          <a:xfrm>
            <a:off x="868680" y="16916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4"/>
          <p:cNvSpPr txBox="1"/>
          <p:nvPr/>
        </p:nvSpPr>
        <p:spPr>
          <a:xfrm>
            <a:off x="1691640" y="1691640"/>
            <a:ext cx="402336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How do we store a growing chat?</a:t>
            </a:r>
            <a:endParaRPr lang="en-US" sz="2200" dirty="0"/>
          </a:p>
        </p:txBody>
      </p:sp>
      <p:sp>
        <p:nvSpPr>
          <p:cNvPr id="8" name="Text 5"/>
          <p:cNvSpPr txBox="1"/>
          <p:nvPr/>
        </p:nvSpPr>
        <p:spPr>
          <a:xfrm>
            <a:off x="868680" y="2560320"/>
            <a:ext cx="4754880" cy="1783080"/>
          </a:xfrm>
          <a:prstGeom prst="rect">
            <a:avLst/>
          </a:prstGeom>
          <a:noFill/>
          <a:ln/>
        </p:spPr>
        <p:txBody>
          <a:bodyPr wrap="square" lIns="0" tIns="0" rIns="0" bIns="0" rtlCol="0" anchor="t"/>
          <a:lstStyle/>
          <a:p>
            <a:pPr indent="0" marL="0">
              <a:buNone/>
            </a:pPr>
            <a:r>
              <a:rPr lang="en-US" sz="2000" dirty="0">
                <a:solidFill>
                  <a:schemeClr val="tx2"/>
                </a:solidFill>
              </a:rPr>
              <a:t>ΔContext: an online topic segmenter. Each boundary is decided a few turns late and never revised. No LLM, no training.</a:t>
            </a:r>
            <a:endParaRPr lang="en-US" sz="2000" dirty="0"/>
          </a:p>
        </p:txBody>
      </p:sp>
      <p:sp>
        <p:nvSpPr>
          <p:cNvPr id="9" name="q-card-2"/>
          <p:cNvSpPr/>
          <p:nvPr/>
        </p:nvSpPr>
        <p:spPr>
          <a:xfrm>
            <a:off x="6217920" y="1417320"/>
            <a:ext cx="5394960" cy="3063240"/>
          </a:xfrm>
          <a:prstGeom prst="roundRect">
            <a:avLst>
              <a:gd name="adj" fmla="val 2388"/>
            </a:avLst>
          </a:prstGeom>
          <a:solidFill>
            <a:schemeClr val="bg2"/>
          </a:solidFill>
          <a:ln w="12700">
            <a:solidFill>
              <a:schemeClr val="bg2"/>
            </a:solidFill>
            <a:prstDash val="solid"/>
          </a:ln>
        </p:spPr>
      </p:sp>
      <p:sp>
        <p:nvSpPr>
          <p:cNvPr id="10" name="badge-2"/>
          <p:cNvSpPr/>
          <p:nvPr/>
        </p:nvSpPr>
        <p:spPr>
          <a:xfrm>
            <a:off x="6537960" y="1691640"/>
            <a:ext cx="640080" cy="640080"/>
          </a:xfrm>
          <a:prstGeom prst="ellipse">
            <a:avLst/>
          </a:prstGeom>
          <a:solidFill>
            <a:schemeClr val="accent3"/>
          </a:solidFill>
          <a:ln w="12700">
            <a:solidFill>
              <a:schemeClr val="accent3"/>
            </a:solidFill>
            <a:prstDash val="solid"/>
          </a:ln>
        </p:spPr>
      </p:sp>
      <p:sp>
        <p:nvSpPr>
          <p:cNvPr id="11" name="Text 8"/>
          <p:cNvSpPr txBox="1"/>
          <p:nvPr/>
        </p:nvSpPr>
        <p:spPr>
          <a:xfrm>
            <a:off x="6537960" y="16916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9"/>
          <p:cNvSpPr txBox="1"/>
          <p:nvPr/>
        </p:nvSpPr>
        <p:spPr>
          <a:xfrm>
            <a:off x="7360920" y="1691640"/>
            <a:ext cx="4023360" cy="6858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What do we read under a fixed budget?</a:t>
            </a:r>
            <a:endParaRPr lang="en-US" sz="2200" dirty="0"/>
          </a:p>
        </p:txBody>
      </p:sp>
      <p:sp>
        <p:nvSpPr>
          <p:cNvPr id="13" name="Text 10"/>
          <p:cNvSpPr txBox="1"/>
          <p:nvPr/>
        </p:nvSpPr>
        <p:spPr>
          <a:xfrm>
            <a:off x="6537960" y="2560320"/>
            <a:ext cx="4754880" cy="1783080"/>
          </a:xfrm>
          <a:prstGeom prst="rect">
            <a:avLst/>
          </a:prstGeom>
          <a:noFill/>
          <a:ln/>
        </p:spPr>
        <p:txBody>
          <a:bodyPr wrap="square" lIns="0" tIns="0" rIns="0" bIns="0" rtlCol="0" anchor="t"/>
          <a:lstStyle/>
          <a:p>
            <a:pPr indent="0" marL="0">
              <a:buNone/>
            </a:pPr>
            <a:r>
              <a:rPr lang="en-US" sz="2000" dirty="0">
                <a:solidFill>
                  <a:schemeClr val="tx2"/>
                </a:solidFill>
              </a:rPr>
              <a:t>ΔContext-R: rank turns with lexical, dense and topic evidence, then spend the budget on the user's own statements inside the most relevant topics.</a:t>
            </a:r>
            <a:endParaRPr lang="en-US" sz="2000" dirty="0"/>
          </a:p>
        </p:txBody>
      </p:sp>
      <p:sp>
        <p:nvSpPr>
          <p:cNvPr id="14" name="baseline-box"/>
          <p:cNvSpPr/>
          <p:nvPr/>
        </p:nvSpPr>
        <p:spPr>
          <a:xfrm>
            <a:off x="548640" y="4800600"/>
            <a:ext cx="11064240" cy="1188720"/>
          </a:xfrm>
          <a:prstGeom prst="roundRect">
            <a:avLst>
              <a:gd name="adj" fmla="val 6154"/>
            </a:avLst>
          </a:prstGeom>
          <a:solidFill>
            <a:srgbClr val="EAF2FC"/>
          </a:solidFill>
          <a:ln w="12700">
            <a:solidFill>
              <a:srgbClr val="EAF2FC"/>
            </a:solidFill>
            <a:prstDash val="solid"/>
          </a:ln>
        </p:spPr>
      </p:sp>
      <p:sp>
        <p:nvSpPr>
          <p:cNvPr id="15" name="Text 12"/>
          <p:cNvSpPr txBox="1"/>
          <p:nvPr/>
        </p:nvSpPr>
        <p:spPr>
          <a:xfrm>
            <a:off x="822960" y="4800600"/>
            <a:ext cx="10607040" cy="1188720"/>
          </a:xfrm>
          <a:prstGeom prst="rect">
            <a:avLst/>
          </a:prstGeom>
          <a:noFill/>
          <a:ln/>
        </p:spPr>
        <p:txBody>
          <a:bodyPr wrap="square" lIns="0" tIns="0" rIns="0" bIns="0" rtlCol="0" anchor="ctr"/>
          <a:lstStyle/>
          <a:p>
            <a:pPr indent="0" marL="0">
              <a:buNone/>
            </a:pPr>
            <a:r>
              <a:rPr lang="en-US" sz="1800" b="1" dirty="0">
                <a:solidFill>
                  <a:schemeClr val="accent2"/>
                </a:solidFill>
              </a:rPr>
              <a:t>Baseline to beat: </a:t>
            </a:r>
            <a:pPr indent="0" marL="0">
              <a:buNone/>
            </a:pPr>
            <a:r>
              <a:rPr lang="en-US" sz="1800" dirty="0">
                <a:solidFill>
                  <a:schemeClr val="tx1"/>
                </a:solidFill>
              </a:rPr>
              <a:t>SeCom (ICLR 2025, Microsoft) — LLM-segmented topics, LLMLingua-2 denoising, whole-segment retrieval. It beat turn- and session-level memory in its paper.</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Contributions</a:t>
            </a:r>
            <a:endParaRPr lang="en-US" sz="3000" dirty="0"/>
          </a:p>
        </p:txBody>
      </p:sp>
      <p:sp>
        <p:nvSpPr>
          <p:cNvPr id="4" name="badge-1"/>
          <p:cNvSpPr/>
          <p:nvPr/>
        </p:nvSpPr>
        <p:spPr>
          <a:xfrm>
            <a:off x="640080" y="1508760"/>
            <a:ext cx="640080" cy="640080"/>
          </a:xfrm>
          <a:prstGeom prst="ellipse">
            <a:avLst/>
          </a:prstGeom>
          <a:solidFill>
            <a:schemeClr val="accent1"/>
          </a:solidFill>
          <a:ln w="12700">
            <a:solidFill>
              <a:schemeClr val="accent1"/>
            </a:solidFill>
            <a:prstDash val="solid"/>
          </a:ln>
        </p:spPr>
      </p:sp>
      <p:sp>
        <p:nvSpPr>
          <p:cNvPr id="5" name="Text 2"/>
          <p:cNvSpPr txBox="1"/>
          <p:nvPr/>
        </p:nvSpPr>
        <p:spPr>
          <a:xfrm>
            <a:off x="640080" y="15087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3"/>
          <p:cNvSpPr txBox="1"/>
          <p:nvPr/>
        </p:nvSpPr>
        <p:spPr>
          <a:xfrm>
            <a:off x="1554480" y="1417320"/>
            <a:ext cx="9875520" cy="4572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Online topic store</a:t>
            </a:r>
            <a:endParaRPr lang="en-US" sz="2100" dirty="0"/>
          </a:p>
        </p:txBody>
      </p:sp>
      <p:sp>
        <p:nvSpPr>
          <p:cNvPr id="7" name="Text 4"/>
          <p:cNvSpPr txBox="1"/>
          <p:nvPr/>
        </p:nvSpPr>
        <p:spPr>
          <a:xfrm>
            <a:off x="1554480" y="1874520"/>
            <a:ext cx="9875520" cy="548640"/>
          </a:xfrm>
          <a:prstGeom prst="rect">
            <a:avLst/>
          </a:prstGeom>
          <a:noFill/>
          <a:ln/>
        </p:spPr>
        <p:txBody>
          <a:bodyPr wrap="square" lIns="0" tIns="0" rIns="0" bIns="0" rtlCol="0" anchor="t"/>
          <a:lstStyle/>
          <a:p>
            <a:pPr indent="0" marL="0">
              <a:buNone/>
            </a:pPr>
            <a:r>
              <a:rPr lang="en-US" sz="1700" dirty="0">
                <a:solidFill>
                  <a:schemeClr val="tx2"/>
                </a:solidFill>
              </a:rPr>
              <a:t>Delayed-commitment segmentation: accurate on long chats, zero boundary revisions, no LLM calls.</a:t>
            </a:r>
            <a:endParaRPr lang="en-US" sz="1700" dirty="0"/>
          </a:p>
        </p:txBody>
      </p:sp>
      <p:sp>
        <p:nvSpPr>
          <p:cNvPr id="8" name="badge-2"/>
          <p:cNvSpPr/>
          <p:nvPr/>
        </p:nvSpPr>
        <p:spPr>
          <a:xfrm>
            <a:off x="640080" y="2697480"/>
            <a:ext cx="640080" cy="640080"/>
          </a:xfrm>
          <a:prstGeom prst="ellipse">
            <a:avLst/>
          </a:prstGeom>
          <a:solidFill>
            <a:schemeClr val="accent1"/>
          </a:solidFill>
          <a:ln w="12700">
            <a:solidFill>
              <a:schemeClr val="accent1"/>
            </a:solidFill>
            <a:prstDash val="solid"/>
          </a:ln>
        </p:spPr>
      </p:sp>
      <p:sp>
        <p:nvSpPr>
          <p:cNvPr id="9" name="Text 6"/>
          <p:cNvSpPr txBox="1"/>
          <p:nvPr/>
        </p:nvSpPr>
        <p:spPr>
          <a:xfrm>
            <a:off x="640080" y="26974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Text 7"/>
          <p:cNvSpPr txBox="1"/>
          <p:nvPr/>
        </p:nvSpPr>
        <p:spPr>
          <a:xfrm>
            <a:off x="1554480" y="2606040"/>
            <a:ext cx="9875520" cy="4572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Budget-aware retrieval (ΔContext-R)</a:t>
            </a:r>
            <a:endParaRPr lang="en-US" sz="2100" dirty="0"/>
          </a:p>
        </p:txBody>
      </p:sp>
      <p:sp>
        <p:nvSpPr>
          <p:cNvPr id="11" name="Text 8"/>
          <p:cNvSpPr txBox="1"/>
          <p:nvPr/>
        </p:nvSpPr>
        <p:spPr>
          <a:xfrm>
            <a:off x="1554480" y="3063240"/>
            <a:ext cx="9875520" cy="548640"/>
          </a:xfrm>
          <a:prstGeom prst="rect">
            <a:avLst/>
          </a:prstGeom>
          <a:noFill/>
          <a:ln/>
        </p:spPr>
        <p:txBody>
          <a:bodyPr wrap="square" lIns="0" tIns="0" rIns="0" bIns="0" rtlCol="0" anchor="t"/>
          <a:lstStyle/>
          <a:p>
            <a:pPr indent="0" marL="0">
              <a:buNone/>
            </a:pPr>
            <a:r>
              <a:rPr lang="en-US" sz="1700" dirty="0">
                <a:solidFill>
                  <a:schemeClr val="tx2"/>
                </a:solidFill>
              </a:rPr>
              <a:t>Fuses BM25, MiniLM and topic ranks; reads user turns in the top topics; reserves 25% of the budget for them.</a:t>
            </a:r>
            <a:endParaRPr lang="en-US" sz="1700" dirty="0"/>
          </a:p>
        </p:txBody>
      </p:sp>
      <p:sp>
        <p:nvSpPr>
          <p:cNvPr id="12" name="badge-3"/>
          <p:cNvSpPr/>
          <p:nvPr/>
        </p:nvSpPr>
        <p:spPr>
          <a:xfrm>
            <a:off x="640080" y="3886200"/>
            <a:ext cx="640080" cy="640080"/>
          </a:xfrm>
          <a:prstGeom prst="ellipse">
            <a:avLst/>
          </a:prstGeom>
          <a:solidFill>
            <a:schemeClr val="accent2"/>
          </a:solidFill>
          <a:ln w="12700">
            <a:solidFill>
              <a:schemeClr val="accent2"/>
            </a:solidFill>
            <a:prstDash val="solid"/>
          </a:ln>
        </p:spPr>
      </p:sp>
      <p:sp>
        <p:nvSpPr>
          <p:cNvPr id="13" name="Text 10"/>
          <p:cNvSpPr txBox="1"/>
          <p:nvPr/>
        </p:nvSpPr>
        <p:spPr>
          <a:xfrm>
            <a:off x="640080" y="3886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 11"/>
          <p:cNvSpPr txBox="1"/>
          <p:nvPr/>
        </p:nvSpPr>
        <p:spPr>
          <a:xfrm>
            <a:off x="1554480" y="3794760"/>
            <a:ext cx="9875520" cy="4572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Controlled re-implementation of SeCom</a:t>
            </a:r>
            <a:endParaRPr lang="en-US" sz="2100" dirty="0"/>
          </a:p>
        </p:txBody>
      </p:sp>
      <p:sp>
        <p:nvSpPr>
          <p:cNvPr id="15" name="Text 12"/>
          <p:cNvSpPr txBox="1"/>
          <p:nvPr/>
        </p:nvSpPr>
        <p:spPr>
          <a:xfrm>
            <a:off x="1554480" y="4251960"/>
            <a:ext cx="9875520" cy="548640"/>
          </a:xfrm>
          <a:prstGeom prst="rect">
            <a:avLst/>
          </a:prstGeom>
          <a:noFill/>
          <a:ln/>
        </p:spPr>
        <p:txBody>
          <a:bodyPr wrap="square" lIns="0" tIns="0" rIns="0" bIns="0" rtlCol="0" anchor="t"/>
          <a:lstStyle/>
          <a:p>
            <a:pPr indent="0" marL="0">
              <a:buNone/>
            </a:pPr>
            <a:r>
              <a:rPr lang="en-US" sz="1700" dirty="0">
                <a:solidFill>
                  <a:schemeClr val="tx2"/>
                </a:solidFill>
              </a:rPr>
              <a:t>Plus turn-, exchange- and session-level memory, all under one budget and one reader, tuned on dev, tested once.</a:t>
            </a:r>
            <a:endParaRPr lang="en-US" sz="1700" dirty="0"/>
          </a:p>
        </p:txBody>
      </p:sp>
      <p:sp>
        <p:nvSpPr>
          <p:cNvPr id="16" name="badge-4"/>
          <p:cNvSpPr/>
          <p:nvPr/>
        </p:nvSpPr>
        <p:spPr>
          <a:xfrm>
            <a:off x="640080" y="5074920"/>
            <a:ext cx="640080" cy="640080"/>
          </a:xfrm>
          <a:prstGeom prst="ellipse">
            <a:avLst/>
          </a:prstGeom>
          <a:solidFill>
            <a:schemeClr val="accent3"/>
          </a:solidFill>
          <a:ln w="12700">
            <a:solidFill>
              <a:schemeClr val="accent3"/>
            </a:solidFill>
            <a:prstDash val="solid"/>
          </a:ln>
        </p:spPr>
      </p:sp>
      <p:sp>
        <p:nvSpPr>
          <p:cNvPr id="17" name="Text 14"/>
          <p:cNvSpPr txBox="1"/>
          <p:nvPr/>
        </p:nvSpPr>
        <p:spPr>
          <a:xfrm>
            <a:off x="640080" y="50749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8" name="Text 15"/>
          <p:cNvSpPr txBox="1"/>
          <p:nvPr/>
        </p:nvSpPr>
        <p:spPr>
          <a:xfrm>
            <a:off x="1554480" y="4983480"/>
            <a:ext cx="9875520" cy="4572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An honest ablation</a:t>
            </a:r>
            <a:endParaRPr lang="en-US" sz="2100" dirty="0"/>
          </a:p>
        </p:txBody>
      </p:sp>
      <p:sp>
        <p:nvSpPr>
          <p:cNvPr id="19" name="Text 16"/>
          <p:cNvSpPr txBox="1"/>
          <p:nvPr/>
        </p:nvSpPr>
        <p:spPr>
          <a:xfrm>
            <a:off x="1554480" y="5440680"/>
            <a:ext cx="9875520" cy="548640"/>
          </a:xfrm>
          <a:prstGeom prst="rect">
            <a:avLst/>
          </a:prstGeom>
          <a:noFill/>
          <a:ln/>
        </p:spPr>
        <p:txBody>
          <a:bodyPr wrap="square" lIns="0" tIns="0" rIns="0" bIns="0" rtlCol="0" anchor="t"/>
          <a:lstStyle/>
          <a:p>
            <a:pPr indent="0" marL="0">
              <a:buNone/>
            </a:pPr>
            <a:r>
              <a:rPr lang="en-US" sz="1700" dirty="0">
                <a:solidFill>
                  <a:schemeClr val="tx2"/>
                </a:solidFill>
              </a:rPr>
              <a:t>The gain comes from budget-aware reading of user turns; online topics match true sessions and beat fixed chunks.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badge"/>
          <p:cNvSpPr/>
          <p:nvPr/>
        </p:nvSpPr>
        <p:spPr>
          <a:xfrm>
            <a:off x="731520" y="265176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651760"/>
            <a:ext cx="1097280" cy="109728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1</a:t>
            </a:r>
            <a:endParaRPr lang="en-US" sz="3600" dirty="0"/>
          </a:p>
        </p:txBody>
      </p:sp>
      <p:sp>
        <p:nvSpPr>
          <p:cNvPr id="4" name="Text 0"/>
          <p:cNvSpPr/>
          <p:nvPr>
            <p:ph idx="100" type="title" hasCustomPrompt="1"/>
          </p:nvPr>
        </p:nvSpPr>
        <p:spPr>
          <a:xfrm>
            <a:off x="2194560" y="265176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rPr>
              <a:t>Literature review</a:t>
            </a:r>
            <a:endParaRPr lang="en-US" sz="4000" dirty="0"/>
          </a:p>
        </p:txBody>
      </p:sp>
      <p:sp>
        <p:nvSpPr>
          <p:cNvPr id="5" name="Text 0"/>
          <p:cNvSpPr/>
          <p:nvPr>
            <p:ph idx="101" type="body" hasCustomPrompt="1"/>
          </p:nvPr>
        </p:nvSpPr>
        <p:spPr>
          <a:xfrm>
            <a:off x="2194560" y="3566160"/>
            <a:ext cx="9144000" cy="731520"/>
          </a:xfrm>
          <a:prstGeom prst="rect">
            <a:avLst/>
          </a:prstGeom>
          <a:noFill/>
          <a:ln/>
        </p:spPr>
        <p:txBody>
          <a:bodyPr wrap="square" lIns="0" tIns="0" rIns="0" bIns="0" rtlCol="0" anchor="t"/>
          <a:lstStyle/>
          <a:p>
            <a:pPr indent="0" marL="0">
              <a:buNone/>
            </a:pPr>
            <a:r>
              <a:rPr lang="en-US" sz="2000" dirty="0">
                <a:solidFill>
                  <a:schemeClr val="bg2"/>
                </a:solidFill>
              </a:rPr>
              <a:t>Ten recent works and the gap they leave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Literature review (1/2): memory systems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685800"/>
                <a:gridCol w="3246120"/>
                <a:gridCol w="2331720"/>
                <a:gridCol w="2788920"/>
              </a:tblGrid>
              <a:tr h="457200">
                <a:tc>
                  <a:txBody>
                    <a:bodyPr/>
                    <a:lstStyle/>
                    <a:p>
                      <a:pPr indent="0" marL="0">
                        <a:buNone/>
                      </a:pPr>
                      <a:r>
                        <a:rPr lang="en-US" sz="1400" b="1" dirty="0">
                          <a:solidFill>
                            <a:schemeClr val="bg1"/>
                          </a:solidFill>
                        </a:rPr>
                        <a:t>Work</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Year</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Method</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Advantage</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Drawback for our setting</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786384">
                <a:tc>
                  <a:txBody>
                    <a:bodyPr/>
                    <a:lstStyle/>
                    <a:p>
                      <a:pPr indent="0" marL="0">
                        <a:buNone/>
                      </a:pPr>
                      <a:r>
                        <a:rPr lang="en-US" sz="1400" b="1" dirty="0">
                          <a:solidFill>
                            <a:schemeClr val="tx1"/>
                          </a:solidFill>
                        </a:rPr>
                        <a:t>MemoryBank</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2024</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Memory store with summaries, forgetting curve, dense retrieval</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Persistent, user-adaptive memory</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Flat units; ignores the context budget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MemGPT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2023</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LLM pages information between prompt and storage</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Unbounded virtual context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An LLM call for every memory operation</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Recursive summaries</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2025</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LLM rewrites memory from old memory and new turns</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Compact memory</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Lossy: verbatim evidence is lost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LongMemEval</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2025</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Round-level values, fact-augmented keys, time-aware queries</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Systematic memory study</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Key expansion needs an LLM per round</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SeCom</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400" dirty="0">
                          <a:solidFill>
                            <a:schemeClr val="tx1"/>
                          </a:solidFill>
                        </a:rPr>
                        <a:t>2025</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400" dirty="0">
                          <a:solidFill>
                            <a:schemeClr val="tx1"/>
                          </a:solidFill>
                        </a:rPr>
                        <a:t>LLM segmentation + LLMLingua-2 denoising + segment retrieval</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400" dirty="0">
                          <a:solidFill>
                            <a:schemeClr val="tx1"/>
                          </a:solidFill>
                        </a:rPr>
                        <a:t>Beats turn and session memory</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400" dirty="0">
                          <a:solidFill>
                            <a:schemeClr val="tx1"/>
                          </a:solidFill>
                        </a:rPr>
                        <a:t>LLM call per session; whole segments fill small budgets</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r>
            </a:tbl>
          </a:graphicData>
        </a:graphic>
      </p:graphicFrame>
      <p:sp>
        <p:nvSpPr>
          <p:cNvPr id="5"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100" i="1" dirty="0">
                <a:solidFill>
                  <a:schemeClr val="accent6"/>
                </a:solidFill>
              </a:rPr>
              <a:t>Zhong et al., AAAI 2024 · Packer et al., 2023 · Wang et al., Neurocomputing 2025 · Wu et al., ICLR 2025 · Pan et al., ICLR 2025</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Literature review (2/2): segmentation, compression, chunking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685800"/>
                <a:gridCol w="3246120"/>
                <a:gridCol w="2331720"/>
                <a:gridCol w="2788920"/>
              </a:tblGrid>
              <a:tr h="457200">
                <a:tc>
                  <a:txBody>
                    <a:bodyPr/>
                    <a:lstStyle/>
                    <a:p>
                      <a:pPr indent="0" marL="0">
                        <a:buNone/>
                      </a:pPr>
                      <a:r>
                        <a:rPr lang="en-US" sz="1400" b="1" dirty="0">
                          <a:solidFill>
                            <a:schemeClr val="bg1"/>
                          </a:solidFill>
                        </a:rPr>
                        <a:t>Work</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Year</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Method</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Advantage</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Drawback for our setting</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786384">
                <a:tc>
                  <a:txBody>
                    <a:bodyPr/>
                    <a:lstStyle/>
                    <a:p>
                      <a:pPr indent="0" marL="0">
                        <a:buNone/>
                      </a:pPr>
                      <a:r>
                        <a:rPr lang="en-US" sz="1400" b="1" dirty="0">
                          <a:solidFill>
                            <a:schemeClr val="tx1"/>
                          </a:solidFill>
                        </a:rPr>
                        <a:t>LLMLingua-2</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2024</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Token classifier keeps the informative tokens</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Fast, faithful compression</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A 560M-parameter pass over all stored text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UMLF</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2025</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Joint discourse parsing and topic segmentation</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Best unsupervised segmentation</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Offline; several large encoders</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DialSTART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2023</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Topic-aware contrastive utterance learning</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Strong unsupervised accuracy</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Needs in-domain training; offline</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Topic-aware comprehension</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2024</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Unsupervised topic blocks + dual-attention matching</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Topics help response selection</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Segments finished passages; no budget</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786384">
                <a:tc>
                  <a:txBody>
                    <a:bodyPr/>
                    <a:lstStyle/>
                    <a:p>
                      <a:pPr indent="0" marL="0">
                        <a:buNone/>
                      </a:pPr>
                      <a:r>
                        <a:rPr lang="en-US" sz="1400" b="1" dirty="0">
                          <a:solidFill>
                            <a:schemeClr val="tx1"/>
                          </a:solidFill>
                        </a:rPr>
                        <a:t>Chunking for RAG</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2026</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Fixed, recursive, semantic and LLM chunking compared</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Chunking changes RAG quality</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400" dirty="0">
                          <a:solidFill>
                            <a:schemeClr val="tx1"/>
                          </a:solidFill>
                        </a:rPr>
                        <a:t>Needs document structure that chats lack</a:t>
                      </a:r>
                      <a:endParaRPr lang="en-US" sz="14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bl>
          </a:graphicData>
        </a:graphic>
      </p:graphicFrame>
      <p:sp>
        <p:nvSpPr>
          <p:cNvPr id="5" name="Text 1"/>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100" i="1" dirty="0">
                <a:solidFill>
                  <a:schemeClr val="accent6"/>
                </a:solidFill>
              </a:rPr>
              <a:t>Pan et al., Findings ACL 2024 · Xu et al., IEEE/ACM TASLP 2025 · Gao et al., SIGIR 2023 · Ma et al., Neurocomputing 2024 · Lavarec &amp; Du, IJ-AI 2026</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Identified gap</a:t>
            </a:r>
            <a:endParaRPr lang="en-US" sz="3000" dirty="0"/>
          </a:p>
        </p:txBody>
      </p:sp>
      <p:sp>
        <p:nvSpPr>
          <p:cNvPr id="4" name="gap-0"/>
          <p:cNvSpPr/>
          <p:nvPr/>
        </p:nvSpPr>
        <p:spPr>
          <a:xfrm>
            <a:off x="548640" y="1463040"/>
            <a:ext cx="3474720" cy="4206240"/>
          </a:xfrm>
          <a:prstGeom prst="roundRect">
            <a:avLst>
              <a:gd name="adj" fmla="val 2105"/>
            </a:avLst>
          </a:prstGeom>
          <a:solidFill>
            <a:schemeClr val="bg2"/>
          </a:solidFill>
          <a:ln w="12700">
            <a:solidFill>
              <a:schemeClr val="bg2"/>
            </a:solidFill>
            <a:prstDash val="solid"/>
          </a:ln>
        </p:spPr>
      </p:sp>
      <p:sp>
        <p:nvSpPr>
          <p:cNvPr id="5" name="badge-1"/>
          <p:cNvSpPr/>
          <p:nvPr/>
        </p:nvSpPr>
        <p:spPr>
          <a:xfrm>
            <a:off x="868680" y="1737360"/>
            <a:ext cx="640080" cy="640080"/>
          </a:xfrm>
          <a:prstGeom prst="ellipse">
            <a:avLst/>
          </a:prstGeom>
          <a:solidFill>
            <a:schemeClr val="accent2"/>
          </a:solidFill>
          <a:ln w="12700">
            <a:solidFill>
              <a:schemeClr val="accent2"/>
            </a:solidFill>
            <a:prstDash val="solid"/>
          </a:ln>
        </p:spPr>
      </p:sp>
      <p:sp>
        <p:nvSpPr>
          <p:cNvPr id="6" name="Text 3"/>
          <p:cNvSpPr txBox="1"/>
          <p:nvPr/>
        </p:nvSpPr>
        <p:spPr>
          <a:xfrm>
            <a:off x="868680" y="17373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4"/>
          <p:cNvSpPr txBox="1"/>
          <p:nvPr/>
        </p:nvSpPr>
        <p:spPr>
          <a:xfrm>
            <a:off x="868680" y="2606040"/>
            <a:ext cx="2834640" cy="9144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Building topics needs an LLM</a:t>
            </a:r>
            <a:endParaRPr lang="en-US" sz="2100" dirty="0"/>
          </a:p>
        </p:txBody>
      </p:sp>
      <p:sp>
        <p:nvSpPr>
          <p:cNvPr id="8" name="Text 5"/>
          <p:cNvSpPr txBox="1"/>
          <p:nvPr/>
        </p:nvSpPr>
        <p:spPr>
          <a:xfrm>
            <a:off x="868680" y="3611880"/>
            <a:ext cx="2834640" cy="1920240"/>
          </a:xfrm>
          <a:prstGeom prst="rect">
            <a:avLst/>
          </a:prstGeom>
          <a:noFill/>
          <a:ln/>
        </p:spPr>
        <p:txBody>
          <a:bodyPr wrap="square" lIns="0" tIns="0" rIns="0" bIns="0" rtlCol="0" anchor="t"/>
          <a:lstStyle/>
          <a:p>
            <a:pPr indent="0" marL="0">
              <a:buNone/>
            </a:pPr>
            <a:r>
              <a:rPr lang="en-US" sz="1700" dirty="0">
                <a:solidFill>
                  <a:schemeClr val="tx2"/>
                </a:solidFill>
              </a:rPr>
              <a:t>SeCom segments every session with GPT-4: 19,195 calls for LongMemEval-S, plus a ~2 GPU-hour compression pass.</a:t>
            </a:r>
            <a:endParaRPr lang="en-US" sz="1700" dirty="0"/>
          </a:p>
        </p:txBody>
      </p:sp>
      <p:sp>
        <p:nvSpPr>
          <p:cNvPr id="9" name="gap-1"/>
          <p:cNvSpPr/>
          <p:nvPr/>
        </p:nvSpPr>
        <p:spPr>
          <a:xfrm>
            <a:off x="4297680" y="1463040"/>
            <a:ext cx="3474720" cy="4206240"/>
          </a:xfrm>
          <a:prstGeom prst="roundRect">
            <a:avLst>
              <a:gd name="adj" fmla="val 2105"/>
            </a:avLst>
          </a:prstGeom>
          <a:solidFill>
            <a:schemeClr val="bg2"/>
          </a:solidFill>
          <a:ln w="12700">
            <a:solidFill>
              <a:schemeClr val="bg2"/>
            </a:solidFill>
            <a:prstDash val="solid"/>
          </a:ln>
        </p:spPr>
      </p:sp>
      <p:sp>
        <p:nvSpPr>
          <p:cNvPr id="10" name="badge-2"/>
          <p:cNvSpPr/>
          <p:nvPr/>
        </p:nvSpPr>
        <p:spPr>
          <a:xfrm>
            <a:off x="4617720" y="1737360"/>
            <a:ext cx="640080" cy="640080"/>
          </a:xfrm>
          <a:prstGeom prst="ellipse">
            <a:avLst/>
          </a:prstGeom>
          <a:solidFill>
            <a:schemeClr val="accent2"/>
          </a:solidFill>
          <a:ln w="12700">
            <a:solidFill>
              <a:schemeClr val="accent2"/>
            </a:solidFill>
            <a:prstDash val="solid"/>
          </a:ln>
        </p:spPr>
      </p:sp>
      <p:sp>
        <p:nvSpPr>
          <p:cNvPr id="11" name="Text 8"/>
          <p:cNvSpPr txBox="1"/>
          <p:nvPr/>
        </p:nvSpPr>
        <p:spPr>
          <a:xfrm>
            <a:off x="4617720" y="17373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9"/>
          <p:cNvSpPr txBox="1"/>
          <p:nvPr/>
        </p:nvSpPr>
        <p:spPr>
          <a:xfrm>
            <a:off x="4617720" y="2606040"/>
            <a:ext cx="2834640" cy="9144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Whole units waste small budgets</a:t>
            </a:r>
            <a:endParaRPr lang="en-US" sz="2100" dirty="0"/>
          </a:p>
        </p:txBody>
      </p:sp>
      <p:sp>
        <p:nvSpPr>
          <p:cNvPr id="13" name="Text 10"/>
          <p:cNvSpPr txBox="1"/>
          <p:nvPr/>
        </p:nvSpPr>
        <p:spPr>
          <a:xfrm>
            <a:off x="4617720" y="3611880"/>
            <a:ext cx="2834640" cy="1920240"/>
          </a:xfrm>
          <a:prstGeom prst="rect">
            <a:avLst/>
          </a:prstGeom>
          <a:noFill/>
          <a:ln/>
        </p:spPr>
        <p:txBody>
          <a:bodyPr wrap="square" lIns="0" tIns="0" rIns="0" bIns="0" rtlCol="0" anchor="t"/>
          <a:lstStyle/>
          <a:p>
            <a:pPr indent="0" marL="0">
              <a:buNone/>
            </a:pPr>
            <a:r>
              <a:rPr lang="en-US" sz="1700" dirty="0">
                <a:solidFill>
                  <a:schemeClr val="tx2"/>
                </a:solidFill>
              </a:rPr>
              <a:t>A LongMemEval session averages ~2,300 tokens, more than a 2,048-token budget can hold.</a:t>
            </a:r>
            <a:endParaRPr lang="en-US" sz="1700" dirty="0"/>
          </a:p>
        </p:txBody>
      </p:sp>
      <p:sp>
        <p:nvSpPr>
          <p:cNvPr id="14" name="gap-2"/>
          <p:cNvSpPr/>
          <p:nvPr/>
        </p:nvSpPr>
        <p:spPr>
          <a:xfrm>
            <a:off x="8046720" y="1463040"/>
            <a:ext cx="3474720" cy="4206240"/>
          </a:xfrm>
          <a:prstGeom prst="roundRect">
            <a:avLst>
              <a:gd name="adj" fmla="val 2105"/>
            </a:avLst>
          </a:prstGeom>
          <a:solidFill>
            <a:schemeClr val="bg2"/>
          </a:solidFill>
          <a:ln w="12700">
            <a:solidFill>
              <a:schemeClr val="bg2"/>
            </a:solidFill>
            <a:prstDash val="solid"/>
          </a:ln>
        </p:spPr>
      </p:sp>
      <p:sp>
        <p:nvSpPr>
          <p:cNvPr id="15" name="badge-3"/>
          <p:cNvSpPr/>
          <p:nvPr/>
        </p:nvSpPr>
        <p:spPr>
          <a:xfrm>
            <a:off x="8366760" y="1737360"/>
            <a:ext cx="640080" cy="640080"/>
          </a:xfrm>
          <a:prstGeom prst="ellipse">
            <a:avLst/>
          </a:prstGeom>
          <a:solidFill>
            <a:schemeClr val="accent2"/>
          </a:solidFill>
          <a:ln w="12700">
            <a:solidFill>
              <a:schemeClr val="accent2"/>
            </a:solidFill>
            <a:prstDash val="solid"/>
          </a:ln>
        </p:spPr>
      </p:sp>
      <p:sp>
        <p:nvSpPr>
          <p:cNvPr id="16" name="Text 13"/>
          <p:cNvSpPr txBox="1"/>
          <p:nvPr/>
        </p:nvSpPr>
        <p:spPr>
          <a:xfrm>
            <a:off x="8366760" y="173736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7" name="Text 14"/>
          <p:cNvSpPr txBox="1"/>
          <p:nvPr/>
        </p:nvSpPr>
        <p:spPr>
          <a:xfrm>
            <a:off x="8366760" y="2606040"/>
            <a:ext cx="2834640" cy="91440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No one tests what drives the gain</a:t>
            </a:r>
            <a:endParaRPr lang="en-US" sz="2100" dirty="0"/>
          </a:p>
        </p:txBody>
      </p:sp>
      <p:sp>
        <p:nvSpPr>
          <p:cNvPr id="18" name="Text 15"/>
          <p:cNvSpPr txBox="1"/>
          <p:nvPr/>
        </p:nvSpPr>
        <p:spPr>
          <a:xfrm>
            <a:off x="8366760" y="3611880"/>
            <a:ext cx="2834640" cy="1920240"/>
          </a:xfrm>
          <a:prstGeom prst="rect">
            <a:avLst/>
          </a:prstGeom>
          <a:noFill/>
          <a:ln/>
        </p:spPr>
        <p:txBody>
          <a:bodyPr wrap="square" lIns="0" tIns="0" rIns="0" bIns="0" rtlCol="0" anchor="t"/>
          <a:lstStyle/>
          <a:p>
            <a:pPr indent="0" marL="0">
              <a:buNone/>
            </a:pPr>
            <a:r>
              <a:rPr lang="en-US" sz="1700" dirty="0">
                <a:solidFill>
                  <a:schemeClr val="tx2"/>
                </a:solidFill>
              </a:rPr>
              <a:t>Topic-memory gains are reported without topic-free controls, so their cause is unknown.</a:t>
            </a:r>
            <a:endParaRPr lang="en-US" sz="1700" dirty="0"/>
          </a:p>
        </p:txBody>
      </p:sp>
      <p:sp>
        <p:nvSpPr>
          <p:cNvPr id="19" name="Text 16"/>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800" b="1" dirty="0">
                <a:solidFill>
                  <a:schemeClr val="accent1"/>
                </a:solidFill>
              </a:rPr>
              <a:t>ΔContext-R targets all three: LLM-free topics, budget-aware reading, and controlled ablations.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badge"/>
          <p:cNvSpPr/>
          <p:nvPr/>
        </p:nvSpPr>
        <p:spPr>
          <a:xfrm>
            <a:off x="731520" y="265176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651760"/>
            <a:ext cx="1097280" cy="109728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2</a:t>
            </a:r>
            <a:endParaRPr lang="en-US" sz="3600" dirty="0"/>
          </a:p>
        </p:txBody>
      </p:sp>
      <p:sp>
        <p:nvSpPr>
          <p:cNvPr id="4" name="Text 0"/>
          <p:cNvSpPr/>
          <p:nvPr>
            <p:ph idx="100" type="title" hasCustomPrompt="1"/>
          </p:nvPr>
        </p:nvSpPr>
        <p:spPr>
          <a:xfrm>
            <a:off x="2194560" y="265176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rPr>
              <a:t>Proposed work</a:t>
            </a:r>
            <a:endParaRPr lang="en-US" sz="4000" dirty="0"/>
          </a:p>
        </p:txBody>
      </p:sp>
      <p:sp>
        <p:nvSpPr>
          <p:cNvPr id="5" name="Text 0"/>
          <p:cNvSpPr/>
          <p:nvPr>
            <p:ph idx="101" type="body" hasCustomPrompt="1"/>
          </p:nvPr>
        </p:nvSpPr>
        <p:spPr>
          <a:xfrm>
            <a:off x="2194560" y="3566160"/>
            <a:ext cx="9144000" cy="731520"/>
          </a:xfrm>
          <a:prstGeom prst="rect">
            <a:avLst/>
          </a:prstGeom>
          <a:noFill/>
          <a:ln/>
        </p:spPr>
        <p:txBody>
          <a:bodyPr wrap="square" lIns="0" tIns="0" rIns="0" bIns="0" rtlCol="0" anchor="t"/>
          <a:lstStyle/>
          <a:p>
            <a:pPr indent="0" marL="0">
              <a:buNone/>
            </a:pPr>
            <a:r>
              <a:rPr lang="en-US" sz="2000" dirty="0">
                <a:solidFill>
                  <a:schemeClr val="bg2"/>
                </a:solidFill>
              </a:rPr>
              <a:t>ΔContext storage + ΔContext-R retrieval</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ΔContext-R in four phases</a:t>
            </a:r>
            <a:endParaRPr lang="en-US" sz="3000" dirty="0"/>
          </a:p>
        </p:txBody>
      </p:sp>
      <p:sp>
        <p:nvSpPr>
          <p:cNvPr id="4" name="Text 1"/>
          <p:cNvSpPr txBox="1"/>
          <p:nvPr/>
        </p:nvSpPr>
        <p:spPr>
          <a:xfrm>
            <a:off x="548640" y="1325880"/>
            <a:ext cx="5486400" cy="320040"/>
          </a:xfrm>
          <a:prstGeom prst="rect">
            <a:avLst/>
          </a:prstGeom>
          <a:noFill/>
          <a:ln/>
        </p:spPr>
        <p:txBody>
          <a:bodyPr wrap="square" lIns="0" tIns="0" rIns="0" bIns="0" rtlCol="0" anchor="t"/>
          <a:lstStyle/>
          <a:p>
            <a:pPr indent="0" marL="0">
              <a:buNone/>
            </a:pPr>
            <a:r>
              <a:rPr lang="en-US" sz="1400" b="1" dirty="0">
                <a:solidFill>
                  <a:schemeClr val="accent1"/>
                </a:solidFill>
              </a:rPr>
              <a:t>STORAGE  ·  once per incoming turn</a:t>
            </a:r>
            <a:endParaRPr lang="en-US" sz="1400" dirty="0"/>
          </a:p>
        </p:txBody>
      </p:sp>
      <p:sp>
        <p:nvSpPr>
          <p:cNvPr id="5" name="Text 2"/>
          <p:cNvSpPr txBox="1"/>
          <p:nvPr/>
        </p:nvSpPr>
        <p:spPr>
          <a:xfrm>
            <a:off x="548640" y="3703320"/>
            <a:ext cx="5486400" cy="320040"/>
          </a:xfrm>
          <a:prstGeom prst="rect">
            <a:avLst/>
          </a:prstGeom>
          <a:noFill/>
          <a:ln/>
        </p:spPr>
        <p:txBody>
          <a:bodyPr wrap="square" lIns="0" tIns="0" rIns="0" bIns="0" rtlCol="0" anchor="t"/>
          <a:lstStyle/>
          <a:p>
            <a:pPr indent="0" marL="0">
              <a:buNone/>
            </a:pPr>
            <a:r>
              <a:rPr lang="en-US" sz="1400" b="1" dirty="0">
                <a:solidFill>
                  <a:schemeClr val="accent3"/>
                </a:solidFill>
              </a:rPr>
              <a:t>RETRIEVAL  ·  once per question</a:t>
            </a:r>
            <a:endParaRPr lang="en-US" sz="1400" dirty="0"/>
          </a:p>
        </p:txBody>
      </p:sp>
      <p:sp>
        <p:nvSpPr>
          <p:cNvPr id="6" name="store-1"/>
          <p:cNvSpPr/>
          <p:nvPr/>
        </p:nvSpPr>
        <p:spPr>
          <a:xfrm>
            <a:off x="548640" y="1691640"/>
            <a:ext cx="3429000" cy="1600200"/>
          </a:xfrm>
          <a:prstGeom prst="roundRect">
            <a:avLst>
              <a:gd name="adj" fmla="val 4571"/>
            </a:avLst>
          </a:prstGeom>
          <a:solidFill>
            <a:schemeClr val="bg2"/>
          </a:solidFill>
          <a:ln w="12700">
            <a:solidFill>
              <a:schemeClr val="bg2"/>
            </a:solidFill>
            <a:prstDash val="solid"/>
          </a:ln>
        </p:spPr>
      </p:sp>
      <p:sp>
        <p:nvSpPr>
          <p:cNvPr id="7" name="badge-1"/>
          <p:cNvSpPr/>
          <p:nvPr/>
        </p:nvSpPr>
        <p:spPr>
          <a:xfrm>
            <a:off x="777240" y="1874520"/>
            <a:ext cx="548640" cy="548640"/>
          </a:xfrm>
          <a:prstGeom prst="ellipse">
            <a:avLst/>
          </a:prstGeom>
          <a:solidFill>
            <a:schemeClr val="accent1"/>
          </a:solidFill>
          <a:ln w="12700">
            <a:solidFill>
              <a:schemeClr val="accent1"/>
            </a:solidFill>
            <a:prstDash val="solid"/>
          </a:ln>
        </p:spPr>
      </p:sp>
      <p:sp>
        <p:nvSpPr>
          <p:cNvPr id="8" name="Text 5"/>
          <p:cNvSpPr txBox="1"/>
          <p:nvPr/>
        </p:nvSpPr>
        <p:spPr>
          <a:xfrm>
            <a:off x="777240" y="1874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6"/>
          <p:cNvSpPr txBox="1"/>
          <p:nvPr/>
        </p:nvSpPr>
        <p:spPr>
          <a:xfrm>
            <a:off x="1463040" y="182880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Encode the turn</a:t>
            </a:r>
            <a:endParaRPr lang="en-US" sz="1800" dirty="0"/>
          </a:p>
        </p:txBody>
      </p:sp>
      <p:sp>
        <p:nvSpPr>
          <p:cNvPr id="10" name="Text 7"/>
          <p:cNvSpPr txBox="1"/>
          <p:nvPr/>
        </p:nvSpPr>
        <p:spPr>
          <a:xfrm>
            <a:off x="777240" y="2514600"/>
            <a:ext cx="3017520" cy="731520"/>
          </a:xfrm>
          <a:prstGeom prst="rect">
            <a:avLst/>
          </a:prstGeom>
          <a:noFill/>
          <a:ln/>
        </p:spPr>
        <p:txBody>
          <a:bodyPr wrap="square" lIns="0" tIns="0" rIns="0" bIns="0" rtlCol="0" anchor="t"/>
          <a:lstStyle/>
          <a:p>
            <a:pPr indent="0" marL="0">
              <a:buNone/>
            </a:pPr>
            <a:r>
              <a:rPr lang="en-US" sz="1500" dirty="0">
                <a:solidFill>
                  <a:schemeClr val="tx2"/>
                </a:solidFill>
              </a:rPr>
              <a:t>MiniLM vector, computed once and cached</a:t>
            </a:r>
            <a:endParaRPr lang="en-US" sz="1500" dirty="0"/>
          </a:p>
        </p:txBody>
      </p:sp>
      <p:sp>
        <p:nvSpPr>
          <p:cNvPr id="11" name="Shape 8"/>
          <p:cNvSpPr/>
          <p:nvPr/>
        </p:nvSpPr>
        <p:spPr>
          <a:xfrm>
            <a:off x="4005072" y="2487168"/>
            <a:ext cx="310896" cy="914"/>
          </a:xfrm>
          <a:prstGeom prst="line">
            <a:avLst/>
          </a:prstGeom>
          <a:noFill/>
          <a:ln w="22225">
            <a:solidFill>
              <a:srgbClr val="6B7280"/>
            </a:solidFill>
            <a:prstDash val="solid"/>
            <a:tailEnd type="triangle"/>
          </a:ln>
        </p:spPr>
      </p:sp>
      <p:sp>
        <p:nvSpPr>
          <p:cNvPr id="12" name="store-2"/>
          <p:cNvSpPr/>
          <p:nvPr/>
        </p:nvSpPr>
        <p:spPr>
          <a:xfrm>
            <a:off x="4343400" y="1691640"/>
            <a:ext cx="3429000" cy="1600200"/>
          </a:xfrm>
          <a:prstGeom prst="roundRect">
            <a:avLst>
              <a:gd name="adj" fmla="val 4571"/>
            </a:avLst>
          </a:prstGeom>
          <a:solidFill>
            <a:schemeClr val="bg2"/>
          </a:solidFill>
          <a:ln w="12700">
            <a:solidFill>
              <a:schemeClr val="bg2"/>
            </a:solidFill>
            <a:prstDash val="solid"/>
          </a:ln>
        </p:spPr>
      </p:sp>
      <p:sp>
        <p:nvSpPr>
          <p:cNvPr id="13" name="badge-2"/>
          <p:cNvSpPr/>
          <p:nvPr/>
        </p:nvSpPr>
        <p:spPr>
          <a:xfrm>
            <a:off x="4572000" y="187452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4572000" y="1874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5" name="Text 12"/>
          <p:cNvSpPr txBox="1"/>
          <p:nvPr/>
        </p:nvSpPr>
        <p:spPr>
          <a:xfrm>
            <a:off x="5257800" y="182880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Delayed-commitment topics</a:t>
            </a:r>
            <a:endParaRPr lang="en-US" sz="1800" dirty="0"/>
          </a:p>
        </p:txBody>
      </p:sp>
      <p:sp>
        <p:nvSpPr>
          <p:cNvPr id="16" name="Text 13"/>
          <p:cNvSpPr txBox="1"/>
          <p:nvPr/>
        </p:nvSpPr>
        <p:spPr>
          <a:xfrm>
            <a:off x="4572000" y="2514600"/>
            <a:ext cx="3017520" cy="731520"/>
          </a:xfrm>
          <a:prstGeom prst="rect">
            <a:avLst/>
          </a:prstGeom>
          <a:noFill/>
          <a:ln/>
        </p:spPr>
        <p:txBody>
          <a:bodyPr wrap="square" lIns="0" tIns="0" rIns="0" bIns="0" rtlCol="0" anchor="t"/>
          <a:lstStyle/>
          <a:p>
            <a:pPr indent="0" marL="0">
              <a:buNone/>
            </a:pPr>
            <a:r>
              <a:rPr lang="en-US" sz="1500" dirty="0">
                <a:solidFill>
                  <a:schemeClr val="tx2"/>
                </a:solidFill>
              </a:rPr>
              <a:t>Decide each boundary L+1 turns late; never revise it</a:t>
            </a:r>
            <a:endParaRPr lang="en-US" sz="1500" dirty="0"/>
          </a:p>
        </p:txBody>
      </p:sp>
      <p:sp>
        <p:nvSpPr>
          <p:cNvPr id="17" name="Shape 14"/>
          <p:cNvSpPr/>
          <p:nvPr/>
        </p:nvSpPr>
        <p:spPr>
          <a:xfrm>
            <a:off x="7799832" y="2487168"/>
            <a:ext cx="310896" cy="914"/>
          </a:xfrm>
          <a:prstGeom prst="line">
            <a:avLst/>
          </a:prstGeom>
          <a:noFill/>
          <a:ln w="22225">
            <a:solidFill>
              <a:srgbClr val="6B7280"/>
            </a:solidFill>
            <a:prstDash val="solid"/>
            <a:tailEnd type="triangle"/>
          </a:ln>
        </p:spPr>
      </p:sp>
      <p:sp>
        <p:nvSpPr>
          <p:cNvPr id="18" name="store-3"/>
          <p:cNvSpPr/>
          <p:nvPr/>
        </p:nvSpPr>
        <p:spPr>
          <a:xfrm>
            <a:off x="8138160" y="1691640"/>
            <a:ext cx="3429000" cy="1600200"/>
          </a:xfrm>
          <a:prstGeom prst="roundRect">
            <a:avLst>
              <a:gd name="adj" fmla="val 4571"/>
            </a:avLst>
          </a:prstGeom>
          <a:solidFill>
            <a:schemeClr val="bg2"/>
          </a:solidFill>
          <a:ln w="12700">
            <a:solidFill>
              <a:schemeClr val="bg2"/>
            </a:solidFill>
            <a:prstDash val="solid"/>
          </a:ln>
        </p:spPr>
      </p:sp>
      <p:sp>
        <p:nvSpPr>
          <p:cNvPr id="19" name="badge-3"/>
          <p:cNvSpPr/>
          <p:nvPr/>
        </p:nvSpPr>
        <p:spPr>
          <a:xfrm>
            <a:off x="8366760" y="1874520"/>
            <a:ext cx="548640" cy="548640"/>
          </a:xfrm>
          <a:prstGeom prst="ellipse">
            <a:avLst/>
          </a:prstGeom>
          <a:solidFill>
            <a:schemeClr val="accent1"/>
          </a:solidFill>
          <a:ln w="12700">
            <a:solidFill>
              <a:schemeClr val="accent1"/>
            </a:solidFill>
            <a:prstDash val="solid"/>
          </a:ln>
        </p:spPr>
      </p:sp>
      <p:sp>
        <p:nvSpPr>
          <p:cNvPr id="20" name="Text 17"/>
          <p:cNvSpPr txBox="1"/>
          <p:nvPr/>
        </p:nvSpPr>
        <p:spPr>
          <a:xfrm>
            <a:off x="8366760" y="1874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1" name="Text 18"/>
          <p:cNvSpPr txBox="1"/>
          <p:nvPr/>
        </p:nvSpPr>
        <p:spPr>
          <a:xfrm>
            <a:off x="9052560" y="182880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Topic store</a:t>
            </a:r>
            <a:endParaRPr lang="en-US" sz="1800" dirty="0"/>
          </a:p>
        </p:txBody>
      </p:sp>
      <p:sp>
        <p:nvSpPr>
          <p:cNvPr id="22" name="Text 19"/>
          <p:cNvSpPr txBox="1"/>
          <p:nvPr/>
        </p:nvSpPr>
        <p:spPr>
          <a:xfrm>
            <a:off x="8366760" y="2514600"/>
            <a:ext cx="3017520" cy="731520"/>
          </a:xfrm>
          <a:prstGeom prst="rect">
            <a:avLst/>
          </a:prstGeom>
          <a:noFill/>
          <a:ln/>
        </p:spPr>
        <p:txBody>
          <a:bodyPr wrap="square" lIns="0" tIns="0" rIns="0" bIns="0" rtlCol="0" anchor="t"/>
          <a:lstStyle/>
          <a:p>
            <a:pPr indent="0" marL="0">
              <a:buNone/>
            </a:pPr>
            <a:r>
              <a:rPr lang="en-US" sz="1500" dirty="0">
                <a:solidFill>
                  <a:schemeClr val="tx2"/>
                </a:solidFill>
              </a:rPr>
              <a:t>Turns, roles, token costs, topic text, centroids, BM25 index</a:t>
            </a:r>
            <a:endParaRPr lang="en-US" sz="1500" dirty="0"/>
          </a:p>
        </p:txBody>
      </p:sp>
      <p:sp>
        <p:nvSpPr>
          <p:cNvPr id="23" name="retr-4a"/>
          <p:cNvSpPr/>
          <p:nvPr/>
        </p:nvSpPr>
        <p:spPr>
          <a:xfrm>
            <a:off x="548640" y="4069080"/>
            <a:ext cx="2971800" cy="1783080"/>
          </a:xfrm>
          <a:prstGeom prst="roundRect">
            <a:avLst>
              <a:gd name="adj" fmla="val 4103"/>
            </a:avLst>
          </a:prstGeom>
          <a:solidFill>
            <a:srgbClr val="EAF2FC"/>
          </a:solidFill>
          <a:ln w="12700">
            <a:solidFill>
              <a:srgbClr val="EAF2FC"/>
            </a:solidFill>
            <a:prstDash val="solid"/>
          </a:ln>
        </p:spPr>
      </p:sp>
      <p:sp>
        <p:nvSpPr>
          <p:cNvPr id="24" name="badge-4a"/>
          <p:cNvSpPr/>
          <p:nvPr/>
        </p:nvSpPr>
        <p:spPr>
          <a:xfrm>
            <a:off x="777240" y="4251960"/>
            <a:ext cx="548640" cy="548640"/>
          </a:xfrm>
          <a:prstGeom prst="ellipse">
            <a:avLst/>
          </a:prstGeom>
          <a:solidFill>
            <a:schemeClr val="accent3"/>
          </a:solidFill>
          <a:ln w="12700">
            <a:solidFill>
              <a:schemeClr val="accent3"/>
            </a:solidFill>
            <a:prstDash val="solid"/>
          </a:ln>
        </p:spPr>
      </p:sp>
      <p:sp>
        <p:nvSpPr>
          <p:cNvPr id="25" name="Text 22"/>
          <p:cNvSpPr txBox="1"/>
          <p:nvPr/>
        </p:nvSpPr>
        <p:spPr>
          <a:xfrm>
            <a:off x="777240" y="42519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a:t>
            </a:r>
            <a:endParaRPr lang="en-US" sz="1600" dirty="0"/>
          </a:p>
        </p:txBody>
      </p:sp>
      <p:sp>
        <p:nvSpPr>
          <p:cNvPr id="26" name="Text 23"/>
          <p:cNvSpPr txBox="1"/>
          <p:nvPr/>
        </p:nvSpPr>
        <p:spPr>
          <a:xfrm>
            <a:off x="1463040" y="4206240"/>
            <a:ext cx="1965960" cy="640080"/>
          </a:xfrm>
          <a:prstGeom prst="rect">
            <a:avLst/>
          </a:prstGeom>
          <a:noFill/>
          <a:ln/>
        </p:spPr>
        <p:txBody>
          <a:bodyPr wrap="square" lIns="0" tIns="0" rIns="0" bIns="0" rtlCol="0" anchor="ctr"/>
          <a:lstStyle/>
          <a:p>
            <a:pPr indent="0" marL="0">
              <a:buNone/>
            </a:pPr>
            <a:r>
              <a:rPr lang="en-US" sz="1800" b="1" dirty="0">
                <a:solidFill>
                  <a:schemeClr val="tx1"/>
                </a:solidFill>
              </a:rPr>
              <a:t>Rank</a:t>
            </a:r>
            <a:endParaRPr lang="en-US" sz="1800" dirty="0"/>
          </a:p>
        </p:txBody>
      </p:sp>
      <p:sp>
        <p:nvSpPr>
          <p:cNvPr id="27" name="Text 24"/>
          <p:cNvSpPr txBox="1"/>
          <p:nvPr/>
        </p:nvSpPr>
        <p:spPr>
          <a:xfrm>
            <a:off x="777240" y="4892040"/>
            <a:ext cx="2606040" cy="868680"/>
          </a:xfrm>
          <a:prstGeom prst="rect">
            <a:avLst/>
          </a:prstGeom>
          <a:noFill/>
          <a:ln/>
        </p:spPr>
        <p:txBody>
          <a:bodyPr wrap="square" lIns="0" tIns="0" rIns="0" bIns="0" rtlCol="0" anchor="t"/>
          <a:lstStyle/>
          <a:p>
            <a:pPr indent="0" marL="0">
              <a:buNone/>
            </a:pPr>
            <a:r>
              <a:rPr lang="en-US" sz="1500" dirty="0">
                <a:solidFill>
                  <a:schemeClr val="tx2"/>
                </a:solidFill>
              </a:rPr>
              <a:t>Turns by BM25 + MiniLM (RRF); topics by BM25 + centroid</a:t>
            </a:r>
            <a:endParaRPr lang="en-US" sz="1500" dirty="0"/>
          </a:p>
        </p:txBody>
      </p:sp>
      <p:sp>
        <p:nvSpPr>
          <p:cNvPr id="28" name="Shape 25"/>
          <p:cNvSpPr/>
          <p:nvPr/>
        </p:nvSpPr>
        <p:spPr>
          <a:xfrm>
            <a:off x="3547872" y="4956048"/>
            <a:ext cx="265176" cy="914"/>
          </a:xfrm>
          <a:prstGeom prst="line">
            <a:avLst/>
          </a:prstGeom>
          <a:noFill/>
          <a:ln w="22225">
            <a:solidFill>
              <a:srgbClr val="6B7280"/>
            </a:solidFill>
            <a:prstDash val="solid"/>
            <a:tailEnd type="triangle"/>
          </a:ln>
        </p:spPr>
      </p:sp>
      <p:sp>
        <p:nvSpPr>
          <p:cNvPr id="29" name="retr-4b"/>
          <p:cNvSpPr/>
          <p:nvPr/>
        </p:nvSpPr>
        <p:spPr>
          <a:xfrm>
            <a:off x="3840480" y="4069080"/>
            <a:ext cx="2971800" cy="1783080"/>
          </a:xfrm>
          <a:prstGeom prst="roundRect">
            <a:avLst>
              <a:gd name="adj" fmla="val 4103"/>
            </a:avLst>
          </a:prstGeom>
          <a:solidFill>
            <a:srgbClr val="EAF2FC"/>
          </a:solidFill>
          <a:ln w="12700">
            <a:solidFill>
              <a:srgbClr val="EAF2FC"/>
            </a:solidFill>
            <a:prstDash val="solid"/>
          </a:ln>
        </p:spPr>
      </p:sp>
      <p:sp>
        <p:nvSpPr>
          <p:cNvPr id="30" name="badge-4b"/>
          <p:cNvSpPr/>
          <p:nvPr/>
        </p:nvSpPr>
        <p:spPr>
          <a:xfrm>
            <a:off x="4069080" y="4251960"/>
            <a:ext cx="548640" cy="548640"/>
          </a:xfrm>
          <a:prstGeom prst="ellipse">
            <a:avLst/>
          </a:prstGeom>
          <a:solidFill>
            <a:schemeClr val="accent3"/>
          </a:solidFill>
          <a:ln w="12700">
            <a:solidFill>
              <a:schemeClr val="accent3"/>
            </a:solidFill>
            <a:prstDash val="solid"/>
          </a:ln>
        </p:spPr>
      </p:sp>
      <p:sp>
        <p:nvSpPr>
          <p:cNvPr id="31" name="Text 28"/>
          <p:cNvSpPr txBox="1"/>
          <p:nvPr/>
        </p:nvSpPr>
        <p:spPr>
          <a:xfrm>
            <a:off x="4069080" y="42519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4b</a:t>
            </a:r>
            <a:endParaRPr lang="en-US" sz="1600" dirty="0"/>
          </a:p>
        </p:txBody>
      </p:sp>
      <p:sp>
        <p:nvSpPr>
          <p:cNvPr id="32" name="Text 29"/>
          <p:cNvSpPr txBox="1"/>
          <p:nvPr/>
        </p:nvSpPr>
        <p:spPr>
          <a:xfrm>
            <a:off x="4754880" y="4206240"/>
            <a:ext cx="1965960" cy="640080"/>
          </a:xfrm>
          <a:prstGeom prst="rect">
            <a:avLst/>
          </a:prstGeom>
          <a:noFill/>
          <a:ln/>
        </p:spPr>
        <p:txBody>
          <a:bodyPr wrap="square" lIns="0" tIns="0" rIns="0" bIns="0" rtlCol="0" anchor="ctr"/>
          <a:lstStyle/>
          <a:p>
            <a:pPr indent="0" marL="0">
              <a:buNone/>
            </a:pPr>
            <a:r>
              <a:rPr lang="en-US" sz="1800" b="1" dirty="0">
                <a:solidFill>
                  <a:schemeClr val="tx1"/>
                </a:solidFill>
              </a:rPr>
              <a:t>Fuse + read the user</a:t>
            </a:r>
            <a:endParaRPr lang="en-US" sz="1800" dirty="0"/>
          </a:p>
        </p:txBody>
      </p:sp>
      <p:sp>
        <p:nvSpPr>
          <p:cNvPr id="33" name="Text 30"/>
          <p:cNvSpPr txBox="1"/>
          <p:nvPr/>
        </p:nvSpPr>
        <p:spPr>
          <a:xfrm>
            <a:off x="4069080" y="4892040"/>
            <a:ext cx="2606040" cy="868680"/>
          </a:xfrm>
          <a:prstGeom prst="rect">
            <a:avLst/>
          </a:prstGeom>
          <a:noFill/>
          <a:ln/>
        </p:spPr>
        <p:txBody>
          <a:bodyPr wrap="square" lIns="0" tIns="0" rIns="0" bIns="0" rtlCol="0" anchor="t"/>
          <a:lstStyle/>
          <a:p>
            <a:pPr indent="0" marL="0">
              <a:buNone/>
            </a:pPr>
            <a:r>
              <a:rPr lang="en-US" sz="1500" dirty="0">
                <a:solidFill>
                  <a:schemeClr val="tx2"/>
                </a:solidFill>
              </a:rPr>
              <a:t>Turn rank + topic rank; boost user turns in top-3 topics</a:t>
            </a:r>
            <a:endParaRPr lang="en-US" sz="1500" dirty="0"/>
          </a:p>
        </p:txBody>
      </p:sp>
      <p:sp>
        <p:nvSpPr>
          <p:cNvPr id="34" name="Shape 31"/>
          <p:cNvSpPr/>
          <p:nvPr/>
        </p:nvSpPr>
        <p:spPr>
          <a:xfrm>
            <a:off x="6839712" y="4956048"/>
            <a:ext cx="265176" cy="914"/>
          </a:xfrm>
          <a:prstGeom prst="line">
            <a:avLst/>
          </a:prstGeom>
          <a:noFill/>
          <a:ln w="22225">
            <a:solidFill>
              <a:srgbClr val="6B7280"/>
            </a:solidFill>
            <a:prstDash val="solid"/>
            <a:tailEnd type="triangle"/>
          </a:ln>
        </p:spPr>
      </p:sp>
      <p:sp>
        <p:nvSpPr>
          <p:cNvPr id="35" name="retr-4c"/>
          <p:cNvSpPr/>
          <p:nvPr/>
        </p:nvSpPr>
        <p:spPr>
          <a:xfrm>
            <a:off x="7132320" y="4069080"/>
            <a:ext cx="2971800" cy="1783080"/>
          </a:xfrm>
          <a:prstGeom prst="roundRect">
            <a:avLst>
              <a:gd name="adj" fmla="val 4103"/>
            </a:avLst>
          </a:prstGeom>
          <a:solidFill>
            <a:srgbClr val="EAF2FC"/>
          </a:solidFill>
          <a:ln w="12700">
            <a:solidFill>
              <a:srgbClr val="EAF2FC"/>
            </a:solidFill>
            <a:prstDash val="solid"/>
          </a:ln>
        </p:spPr>
      </p:sp>
      <p:sp>
        <p:nvSpPr>
          <p:cNvPr id="36" name="badge-4c"/>
          <p:cNvSpPr/>
          <p:nvPr/>
        </p:nvSpPr>
        <p:spPr>
          <a:xfrm>
            <a:off x="7360920" y="4251960"/>
            <a:ext cx="548640" cy="548640"/>
          </a:xfrm>
          <a:prstGeom prst="ellipse">
            <a:avLst/>
          </a:prstGeom>
          <a:solidFill>
            <a:schemeClr val="accent3"/>
          </a:solidFill>
          <a:ln w="12700">
            <a:solidFill>
              <a:schemeClr val="accent3"/>
            </a:solidFill>
            <a:prstDash val="solid"/>
          </a:ln>
        </p:spPr>
      </p:sp>
      <p:sp>
        <p:nvSpPr>
          <p:cNvPr id="37" name="Text 34"/>
          <p:cNvSpPr txBox="1"/>
          <p:nvPr/>
        </p:nvSpPr>
        <p:spPr>
          <a:xfrm>
            <a:off x="7360920" y="425196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4c</a:t>
            </a:r>
            <a:endParaRPr lang="en-US" sz="1600" dirty="0"/>
          </a:p>
        </p:txBody>
      </p:sp>
      <p:sp>
        <p:nvSpPr>
          <p:cNvPr id="38" name="Text 35"/>
          <p:cNvSpPr txBox="1"/>
          <p:nvPr/>
        </p:nvSpPr>
        <p:spPr>
          <a:xfrm>
            <a:off x="8046720" y="4206240"/>
            <a:ext cx="1965960" cy="640080"/>
          </a:xfrm>
          <a:prstGeom prst="rect">
            <a:avLst/>
          </a:prstGeom>
          <a:noFill/>
          <a:ln/>
        </p:spPr>
        <p:txBody>
          <a:bodyPr wrap="square" lIns="0" tIns="0" rIns="0" bIns="0" rtlCol="0" anchor="ctr"/>
          <a:lstStyle/>
          <a:p>
            <a:pPr indent="0" marL="0">
              <a:buNone/>
            </a:pPr>
            <a:r>
              <a:rPr lang="en-US" sz="1800" b="1" dirty="0">
                <a:solidFill>
                  <a:schemeClr val="tx1"/>
                </a:solidFill>
              </a:rPr>
              <a:t>Fill the budget</a:t>
            </a:r>
            <a:endParaRPr lang="en-US" sz="1800" dirty="0"/>
          </a:p>
        </p:txBody>
      </p:sp>
      <p:sp>
        <p:nvSpPr>
          <p:cNvPr id="39" name="Text 36"/>
          <p:cNvSpPr txBox="1"/>
          <p:nvPr/>
        </p:nvSpPr>
        <p:spPr>
          <a:xfrm>
            <a:off x="7360920" y="4892040"/>
            <a:ext cx="2606040" cy="868680"/>
          </a:xfrm>
          <a:prstGeom prst="rect">
            <a:avLst/>
          </a:prstGeom>
          <a:noFill/>
          <a:ln/>
        </p:spPr>
        <p:txBody>
          <a:bodyPr wrap="square" lIns="0" tIns="0" rIns="0" bIns="0" rtlCol="0" anchor="t"/>
          <a:lstStyle/>
          <a:p>
            <a:pPr indent="0" marL="0">
              <a:buNone/>
            </a:pPr>
            <a:r>
              <a:rPr lang="en-US" sz="1500" dirty="0">
                <a:solidFill>
                  <a:schemeClr val="tx2"/>
                </a:solidFill>
              </a:rPr>
              <a:t>75% by score, 25% for user turns of topics already read</a:t>
            </a:r>
            <a:endParaRPr lang="en-US" sz="1500" dirty="0"/>
          </a:p>
        </p:txBody>
      </p:sp>
      <p:sp>
        <p:nvSpPr>
          <p:cNvPr id="40" name="Shape 37"/>
          <p:cNvSpPr/>
          <p:nvPr/>
        </p:nvSpPr>
        <p:spPr>
          <a:xfrm>
            <a:off x="10131552" y="4956048"/>
            <a:ext cx="265176" cy="914"/>
          </a:xfrm>
          <a:prstGeom prst="line">
            <a:avLst/>
          </a:prstGeom>
          <a:noFill/>
          <a:ln w="22225">
            <a:solidFill>
              <a:srgbClr val="6B7280"/>
            </a:solidFill>
            <a:prstDash val="solid"/>
            <a:tailEnd type="triangle"/>
          </a:ln>
        </p:spPr>
      </p:sp>
      <p:sp>
        <p:nvSpPr>
          <p:cNvPr id="41" name="reader"/>
          <p:cNvSpPr/>
          <p:nvPr/>
        </p:nvSpPr>
        <p:spPr>
          <a:xfrm>
            <a:off x="10515600" y="4434840"/>
            <a:ext cx="1051560" cy="1051560"/>
          </a:xfrm>
          <a:prstGeom prst="ellipse">
            <a:avLst/>
          </a:prstGeom>
          <a:solidFill>
            <a:schemeClr val="tx1"/>
          </a:solidFill>
          <a:ln w="12700">
            <a:solidFill>
              <a:schemeClr val="tx1"/>
            </a:solidFill>
            <a:prstDash val="solid"/>
          </a:ln>
        </p:spPr>
      </p:sp>
      <p:sp>
        <p:nvSpPr>
          <p:cNvPr id="42" name="Text 39"/>
          <p:cNvSpPr txBox="1"/>
          <p:nvPr/>
        </p:nvSpPr>
        <p:spPr>
          <a:xfrm>
            <a:off x="10515600" y="4434840"/>
            <a:ext cx="1051560" cy="1051560"/>
          </a:xfrm>
          <a:prstGeom prst="rect">
            <a:avLst/>
          </a:prstGeom>
          <a:noFill/>
          <a:ln/>
        </p:spPr>
        <p:txBody>
          <a:bodyPr wrap="square" lIns="0" tIns="0" rIns="0" bIns="0" rtlCol="0" anchor="ctr"/>
          <a:lstStyle/>
          <a:p>
            <a:pPr algn="ctr" indent="0" marL="0">
              <a:buNone/>
            </a:pPr>
            <a:r>
              <a:rPr lang="en-US" sz="1400" b="1" dirty="0">
                <a:solidFill>
                  <a:schemeClr val="bg1"/>
                </a:solidFill>
              </a:rPr>
              <a:t>LLM</a:t>
            </a:r>
            <a:endParaRPr lang="en-US" sz="1400" dirty="0"/>
          </a:p>
          <a:p>
            <a:pPr algn="ctr" indent="0" marL="0">
              <a:buNone/>
            </a:pPr>
            <a:r>
              <a:rPr lang="en-US" sz="1400" b="1" dirty="0">
                <a:solidFill>
                  <a:schemeClr val="bg1"/>
                </a:solidFill>
              </a:rPr>
              <a:t>reader</a:t>
            </a:r>
            <a:endParaRPr lang="en-US" sz="1400" dirty="0"/>
          </a:p>
        </p:txBody>
      </p:sp>
      <p:sp>
        <p:nvSpPr>
          <p:cNvPr id="43" name="Shape 40"/>
          <p:cNvSpPr/>
          <p:nvPr/>
        </p:nvSpPr>
        <p:spPr>
          <a:xfrm>
            <a:off x="9994392" y="3310128"/>
            <a:ext cx="914" cy="713232"/>
          </a:xfrm>
          <a:prstGeom prst="line">
            <a:avLst/>
          </a:prstGeom>
          <a:noFill/>
          <a:ln w="22225">
            <a:solidFill>
              <a:srgbClr val="6B7280"/>
            </a:solidFill>
            <a:prstDash val="solid"/>
            <a:tailEnd type="triangle"/>
          </a:ln>
        </p:spPr>
      </p:sp>
      <p:sp>
        <p:nvSpPr>
          <p:cNvPr id="44" name="Text 41"/>
          <p:cNvSpPr txBox="1"/>
          <p:nvPr/>
        </p:nvSpPr>
        <p:spPr>
          <a:xfrm>
            <a:off x="10104120" y="3401568"/>
            <a:ext cx="1920240" cy="457200"/>
          </a:xfrm>
          <a:prstGeom prst="rect">
            <a:avLst/>
          </a:prstGeom>
          <a:noFill/>
          <a:ln/>
        </p:spPr>
        <p:txBody>
          <a:bodyPr wrap="square" lIns="0" tIns="0" rIns="0" bIns="0" rtlCol="0" anchor="t"/>
          <a:lstStyle/>
          <a:p>
            <a:pPr indent="0" marL="0">
              <a:buNone/>
            </a:pPr>
            <a:r>
              <a:rPr lang="en-US" sz="1200" i="1" dirty="0">
                <a:solidFill>
                  <a:schemeClr val="accent6"/>
                </a:solidFill>
              </a:rPr>
              <a:t>read by 4a–4c at query time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Phase 2: decide each boundary a few turns late, never revise it</a:t>
            </a:r>
            <a:endParaRPr lang="en-US" sz="3000" dirty="0"/>
          </a:p>
        </p:txBody>
      </p:sp>
      <p:sp>
        <p:nvSpPr>
          <p:cNvPr id="4" name="turn-0"/>
          <p:cNvSpPr/>
          <p:nvPr/>
        </p:nvSpPr>
        <p:spPr>
          <a:xfrm>
            <a:off x="822960" y="1965960"/>
            <a:ext cx="566928" cy="566928"/>
          </a:xfrm>
          <a:prstGeom prst="roundRect">
            <a:avLst>
              <a:gd name="adj" fmla="val 8065"/>
            </a:avLst>
          </a:prstGeom>
          <a:solidFill>
            <a:srgbClr val="D9DDE6"/>
          </a:solidFill>
          <a:ln w="12700">
            <a:solidFill>
              <a:srgbClr val="D9DDE6"/>
            </a:solidFill>
            <a:prstDash val="solid"/>
          </a:ln>
        </p:spPr>
      </p:sp>
      <p:sp>
        <p:nvSpPr>
          <p:cNvPr id="5" name="turn-1"/>
          <p:cNvSpPr/>
          <p:nvPr/>
        </p:nvSpPr>
        <p:spPr>
          <a:xfrm>
            <a:off x="1499616" y="1965960"/>
            <a:ext cx="566928" cy="566928"/>
          </a:xfrm>
          <a:prstGeom prst="roundRect">
            <a:avLst>
              <a:gd name="adj" fmla="val 8065"/>
            </a:avLst>
          </a:prstGeom>
          <a:solidFill>
            <a:srgbClr val="D9DDE6"/>
          </a:solidFill>
          <a:ln w="12700">
            <a:solidFill>
              <a:srgbClr val="D9DDE6"/>
            </a:solidFill>
            <a:prstDash val="solid"/>
          </a:ln>
        </p:spPr>
      </p:sp>
      <p:sp>
        <p:nvSpPr>
          <p:cNvPr id="6" name="turn-2"/>
          <p:cNvSpPr/>
          <p:nvPr/>
        </p:nvSpPr>
        <p:spPr>
          <a:xfrm>
            <a:off x="2176272" y="1965960"/>
            <a:ext cx="566928" cy="566928"/>
          </a:xfrm>
          <a:prstGeom prst="roundRect">
            <a:avLst>
              <a:gd name="adj" fmla="val 8065"/>
            </a:avLst>
          </a:prstGeom>
          <a:solidFill>
            <a:srgbClr val="D9DDE6"/>
          </a:solidFill>
          <a:ln w="12700">
            <a:solidFill>
              <a:srgbClr val="D9DDE6"/>
            </a:solidFill>
            <a:prstDash val="solid"/>
          </a:ln>
        </p:spPr>
      </p:sp>
      <p:sp>
        <p:nvSpPr>
          <p:cNvPr id="7" name="turn-3"/>
          <p:cNvSpPr/>
          <p:nvPr/>
        </p:nvSpPr>
        <p:spPr>
          <a:xfrm>
            <a:off x="2852928" y="1965960"/>
            <a:ext cx="566928" cy="566928"/>
          </a:xfrm>
          <a:prstGeom prst="roundRect">
            <a:avLst>
              <a:gd name="adj" fmla="val 8065"/>
            </a:avLst>
          </a:prstGeom>
          <a:solidFill>
            <a:srgbClr val="D9DDE6"/>
          </a:solidFill>
          <a:ln w="12700">
            <a:solidFill>
              <a:srgbClr val="D9DDE6"/>
            </a:solidFill>
            <a:prstDash val="solid"/>
          </a:ln>
        </p:spPr>
      </p:sp>
      <p:sp>
        <p:nvSpPr>
          <p:cNvPr id="8" name="turn-4"/>
          <p:cNvSpPr/>
          <p:nvPr/>
        </p:nvSpPr>
        <p:spPr>
          <a:xfrm>
            <a:off x="3529584" y="1965960"/>
            <a:ext cx="566928" cy="566928"/>
          </a:xfrm>
          <a:prstGeom prst="roundRect">
            <a:avLst>
              <a:gd name="adj" fmla="val 8065"/>
            </a:avLst>
          </a:prstGeom>
          <a:solidFill>
            <a:srgbClr val="2A78D6"/>
          </a:solidFill>
          <a:ln w="12700">
            <a:solidFill>
              <a:srgbClr val="2A78D6"/>
            </a:solidFill>
            <a:prstDash val="solid"/>
          </a:ln>
        </p:spPr>
      </p:sp>
      <p:sp>
        <p:nvSpPr>
          <p:cNvPr id="9" name="turn-5"/>
          <p:cNvSpPr/>
          <p:nvPr/>
        </p:nvSpPr>
        <p:spPr>
          <a:xfrm>
            <a:off x="4206240" y="1965960"/>
            <a:ext cx="566928" cy="566928"/>
          </a:xfrm>
          <a:prstGeom prst="roundRect">
            <a:avLst>
              <a:gd name="adj" fmla="val 8065"/>
            </a:avLst>
          </a:prstGeom>
          <a:solidFill>
            <a:srgbClr val="2A78D6"/>
          </a:solidFill>
          <a:ln w="12700">
            <a:solidFill>
              <a:srgbClr val="2A78D6"/>
            </a:solidFill>
            <a:prstDash val="solid"/>
          </a:ln>
        </p:spPr>
      </p:sp>
      <p:sp>
        <p:nvSpPr>
          <p:cNvPr id="10" name="turn-6"/>
          <p:cNvSpPr/>
          <p:nvPr/>
        </p:nvSpPr>
        <p:spPr>
          <a:xfrm>
            <a:off x="4882896" y="1965960"/>
            <a:ext cx="566928" cy="566928"/>
          </a:xfrm>
          <a:prstGeom prst="roundRect">
            <a:avLst>
              <a:gd name="adj" fmla="val 8065"/>
            </a:avLst>
          </a:prstGeom>
          <a:solidFill>
            <a:srgbClr val="2A78D6"/>
          </a:solidFill>
          <a:ln w="12700">
            <a:solidFill>
              <a:srgbClr val="2A78D6"/>
            </a:solidFill>
            <a:prstDash val="solid"/>
          </a:ln>
        </p:spPr>
      </p:sp>
      <p:sp>
        <p:nvSpPr>
          <p:cNvPr id="11" name="turn-7"/>
          <p:cNvSpPr/>
          <p:nvPr/>
        </p:nvSpPr>
        <p:spPr>
          <a:xfrm>
            <a:off x="5559552" y="1965960"/>
            <a:ext cx="566928" cy="566928"/>
          </a:xfrm>
          <a:prstGeom prst="roundRect">
            <a:avLst>
              <a:gd name="adj" fmla="val 8065"/>
            </a:avLst>
          </a:prstGeom>
          <a:solidFill>
            <a:srgbClr val="EB6834"/>
          </a:solidFill>
          <a:ln w="12700">
            <a:solidFill>
              <a:srgbClr val="EB6834"/>
            </a:solidFill>
            <a:prstDash val="solid"/>
          </a:ln>
        </p:spPr>
      </p:sp>
      <p:sp>
        <p:nvSpPr>
          <p:cNvPr id="12" name="turn-8"/>
          <p:cNvSpPr/>
          <p:nvPr/>
        </p:nvSpPr>
        <p:spPr>
          <a:xfrm>
            <a:off x="6236208" y="1965960"/>
            <a:ext cx="566928" cy="566928"/>
          </a:xfrm>
          <a:prstGeom prst="roundRect">
            <a:avLst>
              <a:gd name="adj" fmla="val 8065"/>
            </a:avLst>
          </a:prstGeom>
          <a:solidFill>
            <a:srgbClr val="EB6834"/>
          </a:solidFill>
          <a:ln w="12700">
            <a:solidFill>
              <a:srgbClr val="EB6834"/>
            </a:solidFill>
            <a:prstDash val="solid"/>
          </a:ln>
        </p:spPr>
      </p:sp>
      <p:sp>
        <p:nvSpPr>
          <p:cNvPr id="13" name="turn-9"/>
          <p:cNvSpPr/>
          <p:nvPr/>
        </p:nvSpPr>
        <p:spPr>
          <a:xfrm>
            <a:off x="6912864" y="1965960"/>
            <a:ext cx="566928" cy="566928"/>
          </a:xfrm>
          <a:prstGeom prst="roundRect">
            <a:avLst>
              <a:gd name="adj" fmla="val 8065"/>
            </a:avLst>
          </a:prstGeom>
          <a:solidFill>
            <a:srgbClr val="EB6834"/>
          </a:solidFill>
          <a:ln w="12700">
            <a:solidFill>
              <a:srgbClr val="EB6834"/>
            </a:solidFill>
            <a:prstDash val="solid"/>
          </a:ln>
        </p:spPr>
      </p:sp>
      <p:sp>
        <p:nvSpPr>
          <p:cNvPr id="14" name="turn-10"/>
          <p:cNvSpPr/>
          <p:nvPr/>
        </p:nvSpPr>
        <p:spPr>
          <a:xfrm>
            <a:off x="7589520" y="1965960"/>
            <a:ext cx="566928" cy="566928"/>
          </a:xfrm>
          <a:prstGeom prst="roundRect">
            <a:avLst>
              <a:gd name="adj" fmla="val 8065"/>
            </a:avLst>
          </a:prstGeom>
          <a:solidFill>
            <a:srgbClr val="3A4060"/>
          </a:solidFill>
          <a:ln w="12700">
            <a:solidFill>
              <a:srgbClr val="3A4060"/>
            </a:solidFill>
            <a:prstDash val="solid"/>
          </a:ln>
        </p:spPr>
      </p:sp>
      <p:sp>
        <p:nvSpPr>
          <p:cNvPr id="15" name="Shape 12"/>
          <p:cNvSpPr/>
          <p:nvPr/>
        </p:nvSpPr>
        <p:spPr>
          <a:xfrm>
            <a:off x="5504688" y="1554480"/>
            <a:ext cx="914" cy="1389888"/>
          </a:xfrm>
          <a:prstGeom prst="line">
            <a:avLst/>
          </a:prstGeom>
          <a:noFill/>
          <a:ln w="38100">
            <a:solidFill>
              <a:srgbClr val="C0392B"/>
            </a:solidFill>
            <a:prstDash val="solid"/>
          </a:ln>
        </p:spPr>
      </p:sp>
      <p:sp>
        <p:nvSpPr>
          <p:cNvPr id="16" name="Text 13"/>
          <p:cNvSpPr txBox="1"/>
          <p:nvPr/>
        </p:nvSpPr>
        <p:spPr>
          <a:xfrm>
            <a:off x="4956048" y="1188720"/>
            <a:ext cx="1097280" cy="320040"/>
          </a:xfrm>
          <a:prstGeom prst="rect">
            <a:avLst/>
          </a:prstGeom>
          <a:noFill/>
          <a:ln/>
        </p:spPr>
        <p:txBody>
          <a:bodyPr wrap="square" lIns="0" tIns="0" rIns="0" bIns="0" rtlCol="0" anchor="t"/>
          <a:lstStyle/>
          <a:p>
            <a:pPr algn="ctr" indent="0" marL="0">
              <a:buNone/>
            </a:pPr>
            <a:r>
              <a:rPr lang="en-US" sz="1500" b="1" dirty="0">
                <a:solidFill>
                  <a:srgbClr val="C0392B"/>
                </a:solidFill>
              </a:rPr>
              <a:t>gap g</a:t>
            </a:r>
            <a:endParaRPr lang="en-US" sz="1500" dirty="0"/>
          </a:p>
        </p:txBody>
      </p:sp>
      <p:sp>
        <p:nvSpPr>
          <p:cNvPr id="17" name="Text 14"/>
          <p:cNvSpPr txBox="1"/>
          <p:nvPr/>
        </p:nvSpPr>
        <p:spPr>
          <a:xfrm>
            <a:off x="731520" y="2642616"/>
            <a:ext cx="2889504" cy="365760"/>
          </a:xfrm>
          <a:prstGeom prst="rect">
            <a:avLst/>
          </a:prstGeom>
          <a:noFill/>
          <a:ln/>
        </p:spPr>
        <p:txBody>
          <a:bodyPr wrap="square" lIns="0" tIns="0" rIns="0" bIns="0" rtlCol="0" anchor="t"/>
          <a:lstStyle/>
          <a:p>
            <a:pPr algn="ctr" indent="0" marL="0">
              <a:buNone/>
            </a:pPr>
            <a:r>
              <a:rPr lang="en-US" sz="1400" b="1" dirty="0">
                <a:solidFill>
                  <a:schemeClr val="accent6"/>
                </a:solidFill>
              </a:rPr>
              <a:t>open topic (from turn a)</a:t>
            </a:r>
            <a:endParaRPr lang="en-US" sz="1400" dirty="0"/>
          </a:p>
        </p:txBody>
      </p:sp>
      <p:sp>
        <p:nvSpPr>
          <p:cNvPr id="18" name="Text 15"/>
          <p:cNvSpPr txBox="1"/>
          <p:nvPr/>
        </p:nvSpPr>
        <p:spPr>
          <a:xfrm>
            <a:off x="3438144" y="2642616"/>
            <a:ext cx="2212848" cy="365760"/>
          </a:xfrm>
          <a:prstGeom prst="rect">
            <a:avLst/>
          </a:prstGeom>
          <a:noFill/>
          <a:ln/>
        </p:spPr>
        <p:txBody>
          <a:bodyPr wrap="square" lIns="0" tIns="0" rIns="0" bIns="0" rtlCol="0" anchor="t"/>
          <a:lstStyle/>
          <a:p>
            <a:pPr algn="ctr" indent="0" marL="0">
              <a:buNone/>
            </a:pPr>
            <a:r>
              <a:rPr lang="en-US" sz="1400" b="1" dirty="0">
                <a:solidFill>
                  <a:schemeClr val="accent1"/>
                </a:solidFill>
              </a:rPr>
              <a:t>last c turns</a:t>
            </a:r>
            <a:endParaRPr lang="en-US" sz="1400" dirty="0"/>
          </a:p>
        </p:txBody>
      </p:sp>
      <p:sp>
        <p:nvSpPr>
          <p:cNvPr id="19" name="Text 16"/>
          <p:cNvSpPr txBox="1"/>
          <p:nvPr/>
        </p:nvSpPr>
        <p:spPr>
          <a:xfrm>
            <a:off x="5468112" y="2642616"/>
            <a:ext cx="2212848" cy="365760"/>
          </a:xfrm>
          <a:prstGeom prst="rect">
            <a:avLst/>
          </a:prstGeom>
          <a:noFill/>
          <a:ln/>
        </p:spPr>
        <p:txBody>
          <a:bodyPr wrap="square" lIns="0" tIns="0" rIns="0" bIns="0" rtlCol="0" anchor="t"/>
          <a:lstStyle/>
          <a:p>
            <a:pPr algn="ctr" indent="0" marL="0">
              <a:buNone/>
            </a:pPr>
            <a:r>
              <a:rPr lang="en-US" sz="1400" b="1" dirty="0">
                <a:solidFill>
                  <a:schemeClr val="accent2"/>
                </a:solidFill>
              </a:rPr>
              <a:t>next L turns</a:t>
            </a:r>
            <a:endParaRPr lang="en-US" sz="1400" dirty="0"/>
          </a:p>
        </p:txBody>
      </p:sp>
      <p:sp>
        <p:nvSpPr>
          <p:cNvPr id="20" name="Text 17"/>
          <p:cNvSpPr txBox="1"/>
          <p:nvPr/>
        </p:nvSpPr>
        <p:spPr>
          <a:xfrm>
            <a:off x="7498080" y="2642616"/>
            <a:ext cx="859536" cy="365760"/>
          </a:xfrm>
          <a:prstGeom prst="rect">
            <a:avLst/>
          </a:prstGeom>
          <a:noFill/>
          <a:ln/>
        </p:spPr>
        <p:txBody>
          <a:bodyPr wrap="square" lIns="0" tIns="0" rIns="0" bIns="0" rtlCol="0" anchor="t"/>
          <a:lstStyle/>
          <a:p>
            <a:pPr algn="ctr" indent="0" marL="0">
              <a:buNone/>
            </a:pPr>
            <a:r>
              <a:rPr lang="en-US" sz="1400" b="1" dirty="0">
                <a:solidFill>
                  <a:schemeClr val="tx2"/>
                </a:solidFill>
              </a:rPr>
              <a:t>turn t</a:t>
            </a:r>
            <a:endParaRPr lang="en-US" sz="1400" dirty="0"/>
          </a:p>
        </p:txBody>
      </p:sp>
      <p:sp>
        <p:nvSpPr>
          <p:cNvPr id="21" name="props"/>
          <p:cNvSpPr/>
          <p:nvPr/>
        </p:nvSpPr>
        <p:spPr>
          <a:xfrm>
            <a:off x="8595360" y="1371600"/>
            <a:ext cx="3017520" cy="2194560"/>
          </a:xfrm>
          <a:prstGeom prst="roundRect">
            <a:avLst>
              <a:gd name="adj" fmla="val 3333"/>
            </a:avLst>
          </a:prstGeom>
          <a:solidFill>
            <a:schemeClr val="bg2"/>
          </a:solidFill>
          <a:ln w="12700">
            <a:solidFill>
              <a:schemeClr val="bg2"/>
            </a:solidFill>
            <a:prstDash val="solid"/>
          </a:ln>
        </p:spPr>
      </p:sp>
      <p:sp>
        <p:nvSpPr>
          <p:cNvPr id="22" name="Text 19"/>
          <p:cNvSpPr txBox="1"/>
          <p:nvPr/>
        </p:nvSpPr>
        <p:spPr>
          <a:xfrm>
            <a:off x="8823960" y="1554480"/>
            <a:ext cx="2651760" cy="548640"/>
          </a:xfrm>
          <a:prstGeom prst="rect">
            <a:avLst/>
          </a:prstGeom>
          <a:noFill/>
          <a:ln/>
        </p:spPr>
        <p:txBody>
          <a:bodyPr wrap="square" lIns="0" tIns="0" rIns="0" bIns="0" rtlCol="0" anchor="ctr"/>
          <a:lstStyle/>
          <a:p>
            <a:pPr indent="0" marL="0">
              <a:buNone/>
            </a:pPr>
            <a:r>
              <a:rPr lang="en-US" sz="1500" b="1" dirty="0">
                <a:solidFill>
                  <a:schemeClr val="accent1"/>
                </a:solidFill>
              </a:rPr>
              <a:t>No revisions: </a:t>
            </a:r>
            <a:pPr indent="0" marL="0">
              <a:buNone/>
            </a:pPr>
            <a:r>
              <a:rPr lang="en-US" sz="1500" dirty="0">
                <a:solidFill>
                  <a:schemeClr val="tx2"/>
                </a:solidFill>
              </a:rPr>
              <a:t>the store is append-only</a:t>
            </a:r>
            <a:endParaRPr lang="en-US" sz="1500" dirty="0"/>
          </a:p>
        </p:txBody>
      </p:sp>
      <p:sp>
        <p:nvSpPr>
          <p:cNvPr id="23" name="Text 20"/>
          <p:cNvSpPr txBox="1"/>
          <p:nvPr/>
        </p:nvSpPr>
        <p:spPr>
          <a:xfrm>
            <a:off x="8823960" y="2194560"/>
            <a:ext cx="2651760" cy="548640"/>
          </a:xfrm>
          <a:prstGeom prst="rect">
            <a:avLst/>
          </a:prstGeom>
          <a:noFill/>
          <a:ln/>
        </p:spPr>
        <p:txBody>
          <a:bodyPr wrap="square" lIns="0" tIns="0" rIns="0" bIns="0" rtlCol="0" anchor="ctr"/>
          <a:lstStyle/>
          <a:p>
            <a:pPr indent="0" marL="0">
              <a:buNone/>
            </a:pPr>
            <a:r>
              <a:rPr lang="en-US" sz="1500" b="1" dirty="0">
                <a:solidFill>
                  <a:schemeClr val="accent1"/>
                </a:solidFill>
              </a:rPr>
              <a:t>Constant delay: </a:t>
            </a:r>
            <a:pPr indent="0" marL="0">
              <a:buNone/>
            </a:pPr>
            <a:r>
              <a:rPr lang="en-US" sz="1500" dirty="0">
                <a:solidFill>
                  <a:schemeClr val="tx2"/>
                </a:solidFill>
              </a:rPr>
              <a:t>L + 1 = 4 turns</a:t>
            </a:r>
            <a:endParaRPr lang="en-US" sz="1500" dirty="0"/>
          </a:p>
        </p:txBody>
      </p:sp>
      <p:sp>
        <p:nvSpPr>
          <p:cNvPr id="24" name="Text 21"/>
          <p:cNvSpPr txBox="1"/>
          <p:nvPr/>
        </p:nvSpPr>
        <p:spPr>
          <a:xfrm>
            <a:off x="8823960" y="2834640"/>
            <a:ext cx="2651760" cy="548640"/>
          </a:xfrm>
          <a:prstGeom prst="rect">
            <a:avLst/>
          </a:prstGeom>
          <a:noFill/>
          <a:ln/>
        </p:spPr>
        <p:txBody>
          <a:bodyPr wrap="square" lIns="0" tIns="0" rIns="0" bIns="0" rtlCol="0" anchor="ctr"/>
          <a:lstStyle/>
          <a:p>
            <a:pPr indent="0" marL="0">
              <a:buNone/>
            </a:pPr>
            <a:r>
              <a:rPr lang="en-US" sz="1500" b="1" dirty="0">
                <a:solidFill>
                  <a:schemeClr val="accent1"/>
                </a:solidFill>
              </a:rPr>
              <a:t>No LLM, no training: </a:t>
            </a:r>
            <a:pPr indent="0" marL="0">
              <a:buNone/>
            </a:pPr>
            <a:r>
              <a:rPr lang="en-US" sz="1500" dirty="0">
                <a:solidFill>
                  <a:schemeClr val="tx2"/>
                </a:solidFill>
              </a:rPr>
              <a:t>4 parameters</a:t>
            </a:r>
            <a:endParaRPr lang="en-US" sz="1500" dirty="0"/>
          </a:p>
        </p:txBody>
      </p:sp>
      <p:sp>
        <p:nvSpPr>
          <p:cNvPr id="25" name="rule-box"/>
          <p:cNvSpPr/>
          <p:nvPr/>
        </p:nvSpPr>
        <p:spPr>
          <a:xfrm>
            <a:off x="548640" y="3611880"/>
            <a:ext cx="11064240" cy="2240280"/>
          </a:xfrm>
          <a:prstGeom prst="roundRect">
            <a:avLst>
              <a:gd name="adj" fmla="val 3265"/>
            </a:avLst>
          </a:prstGeom>
          <a:solidFill>
            <a:srgbClr val="EAF2FC"/>
          </a:solidFill>
          <a:ln w="12700">
            <a:solidFill>
              <a:srgbClr val="EAF2FC"/>
            </a:solidFill>
            <a:prstDash val="solid"/>
          </a:ln>
        </p:spPr>
      </p:sp>
      <p:sp>
        <p:nvSpPr>
          <p:cNvPr id="26" name="Text 23"/>
          <p:cNvSpPr txBox="1"/>
          <p:nvPr/>
        </p:nvSpPr>
        <p:spPr>
          <a:xfrm>
            <a:off x="822960" y="3794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Score of gap g</a:t>
            </a:r>
            <a:endParaRPr lang="en-US" sz="1800" dirty="0"/>
          </a:p>
        </p:txBody>
      </p:sp>
      <p:sp>
        <p:nvSpPr>
          <p:cNvPr id="27" name="Text 24"/>
          <p:cNvSpPr txBox="1"/>
          <p:nvPr/>
        </p:nvSpPr>
        <p:spPr>
          <a:xfrm>
            <a:off x="822960" y="4206240"/>
            <a:ext cx="10515600" cy="457200"/>
          </a:xfrm>
          <a:prstGeom prst="rect">
            <a:avLst/>
          </a:prstGeom>
          <a:noFill/>
          <a:ln/>
        </p:spPr>
        <p:txBody>
          <a:bodyPr wrap="square" lIns="0" tIns="0" rIns="0" bIns="0" rtlCol="0" anchor="t"/>
          <a:lstStyle/>
          <a:p>
            <a:pPr indent="0" marL="0">
              <a:buNone/>
            </a:pPr>
            <a:r>
              <a:rPr lang="en-US" sz="2000" i="1" dirty="0">
                <a:solidFill>
                  <a:schemeClr val="accent1"/>
                </a:solidFill>
                <a:latin typeface="Cambria" pitchFamily="34" charset="0"/>
                <a:ea typeface="Cambria" pitchFamily="34" charset="-122"/>
                <a:cs typeface="Cambria" pitchFamily="34" charset="-120"/>
              </a:rPr>
              <a:t>s(g) = 1 − cos( mean of last c turns ,  mean of next L turns )</a:t>
            </a:r>
            <a:endParaRPr lang="en-US" sz="2000" dirty="0"/>
          </a:p>
        </p:txBody>
      </p:sp>
      <p:sp>
        <p:nvSpPr>
          <p:cNvPr id="28" name="Text 25"/>
          <p:cNvSpPr txBox="1"/>
          <p:nvPr/>
        </p:nvSpPr>
        <p:spPr>
          <a:xfrm>
            <a:off x="822960" y="4800600"/>
            <a:ext cx="4572000" cy="365760"/>
          </a:xfrm>
          <a:prstGeom prst="rect">
            <a:avLst/>
          </a:prstGeom>
          <a:noFill/>
          <a:ln/>
        </p:spPr>
        <p:txBody>
          <a:bodyPr wrap="square" lIns="0" tIns="0" rIns="0" bIns="0" rtlCol="0" anchor="t"/>
          <a:lstStyle/>
          <a:p>
            <a:pPr indent="0" marL="0">
              <a:buNone/>
            </a:pPr>
            <a:r>
              <a:rPr lang="en-US" sz="1800" b="1" dirty="0">
                <a:solidFill>
                  <a:schemeClr val="tx1"/>
                </a:solidFill>
              </a:rPr>
              <a:t>Commit a boundary at g when</a:t>
            </a:r>
            <a:endParaRPr lang="en-US" sz="1800" dirty="0"/>
          </a:p>
        </p:txBody>
      </p:sp>
      <p:sp>
        <p:nvSpPr>
          <p:cNvPr id="29" name="Text 26"/>
          <p:cNvSpPr txBox="1"/>
          <p:nvPr/>
        </p:nvSpPr>
        <p:spPr>
          <a:xfrm>
            <a:off x="822960" y="5212080"/>
            <a:ext cx="10607040" cy="457200"/>
          </a:xfrm>
          <a:prstGeom prst="rect">
            <a:avLst/>
          </a:prstGeom>
          <a:noFill/>
          <a:ln/>
        </p:spPr>
        <p:txBody>
          <a:bodyPr wrap="square" lIns="0" tIns="0" rIns="0" bIns="0" rtlCol="0" anchor="t"/>
          <a:lstStyle/>
          <a:p>
            <a:pPr indent="0" marL="0">
              <a:buNone/>
            </a:pPr>
            <a:r>
              <a:rPr lang="en-US" sz="1700" dirty="0">
                <a:solidFill>
                  <a:schemeClr val="tx2"/>
                </a:solidFill>
              </a:rPr>
              <a:t>s(g) ≥ s(g−1),   s(g) ≥ s(g+1)   and   s(g) ≥ τ          LongMemEval setting: L = 3, c = 3, τ = 0.75 (tuned on dev)</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Phase 4: one score per turn, three ideas</a:t>
            </a:r>
            <a:endParaRPr lang="en-US" sz="3000" dirty="0"/>
          </a:p>
        </p:txBody>
      </p:sp>
      <p:sp>
        <p:nvSpPr>
          <p:cNvPr id="4" name="formula"/>
          <p:cNvSpPr/>
          <p:nvPr/>
        </p:nvSpPr>
        <p:spPr>
          <a:xfrm>
            <a:off x="548640" y="1371600"/>
            <a:ext cx="11064240" cy="1005840"/>
          </a:xfrm>
          <a:prstGeom prst="roundRect">
            <a:avLst>
              <a:gd name="adj" fmla="val 7273"/>
            </a:avLst>
          </a:prstGeom>
          <a:solidFill>
            <a:schemeClr val="tx1"/>
          </a:solidFill>
          <a:ln w="12700">
            <a:solidFill>
              <a:schemeClr val="tx1"/>
            </a:solidFill>
            <a:prstDash val="solid"/>
          </a:ln>
        </p:spPr>
      </p:sp>
      <p:sp>
        <p:nvSpPr>
          <p:cNvPr id="5" name="Text 2"/>
          <p:cNvSpPr txBox="1"/>
          <p:nvPr/>
        </p:nvSpPr>
        <p:spPr>
          <a:xfrm>
            <a:off x="822960" y="1371600"/>
            <a:ext cx="10607040" cy="1005840"/>
          </a:xfrm>
          <a:prstGeom prst="rect">
            <a:avLst/>
          </a:prstGeom>
          <a:noFill/>
          <a:ln/>
        </p:spPr>
        <p:txBody>
          <a:bodyPr wrap="square" lIns="0" tIns="0" rIns="0" bIns="0" rtlCol="0" anchor="ctr"/>
          <a:lstStyle/>
          <a:p>
            <a:pPr indent="0" marL="0">
              <a:buNone/>
            </a:pPr>
            <a:r>
              <a:rPr lang="en-US" sz="2000" dirty="0">
                <a:solidFill>
                  <a:schemeClr val="bg1"/>
                </a:solidFill>
                <a:latin typeface="Cambria" pitchFamily="34" charset="0"/>
                <a:ea typeface="Cambria" pitchFamily="34" charset="-122"/>
                <a:cs typeface="Cambria" pitchFamily="34" charset="-120"/>
              </a:rPr>
              <a:t>f(turn)  =  rank score of the turn   +   w · rank score of its topic   +   β · [user turn in a top-k topic]</a:t>
            </a:r>
            <a:endParaRPr lang="en-US" sz="2000" dirty="0"/>
          </a:p>
        </p:txBody>
      </p:sp>
      <p:sp>
        <p:nvSpPr>
          <p:cNvPr id="6" name="part-1"/>
          <p:cNvSpPr/>
          <p:nvPr/>
        </p:nvSpPr>
        <p:spPr>
          <a:xfrm>
            <a:off x="548640" y="2651760"/>
            <a:ext cx="3474720" cy="2331720"/>
          </a:xfrm>
          <a:prstGeom prst="roundRect">
            <a:avLst>
              <a:gd name="adj" fmla="val 3137"/>
            </a:avLst>
          </a:prstGeom>
          <a:solidFill>
            <a:schemeClr val="bg2"/>
          </a:solidFill>
          <a:ln w="12700">
            <a:solidFill>
              <a:schemeClr val="bg2"/>
            </a:solidFill>
            <a:prstDash val="solid"/>
          </a:ln>
        </p:spPr>
      </p:sp>
      <p:sp>
        <p:nvSpPr>
          <p:cNvPr id="7" name="badge-1"/>
          <p:cNvSpPr/>
          <p:nvPr/>
        </p:nvSpPr>
        <p:spPr>
          <a:xfrm>
            <a:off x="822960" y="2880360"/>
            <a:ext cx="548640" cy="548640"/>
          </a:xfrm>
          <a:prstGeom prst="ellipse">
            <a:avLst/>
          </a:prstGeom>
          <a:solidFill>
            <a:schemeClr val="accent3"/>
          </a:solidFill>
          <a:ln w="12700">
            <a:solidFill>
              <a:schemeClr val="accent3"/>
            </a:solidFill>
            <a:prstDash val="solid"/>
          </a:ln>
        </p:spPr>
      </p:sp>
      <p:sp>
        <p:nvSpPr>
          <p:cNvPr id="8" name="Text 5"/>
          <p:cNvSpPr txBox="1"/>
          <p:nvPr/>
        </p:nvSpPr>
        <p:spPr>
          <a:xfrm>
            <a:off x="822960" y="2880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6"/>
          <p:cNvSpPr txBox="1"/>
          <p:nvPr/>
        </p:nvSpPr>
        <p:spPr>
          <a:xfrm>
            <a:off x="1508760" y="2834640"/>
            <a:ext cx="2377440" cy="640080"/>
          </a:xfrm>
          <a:prstGeom prst="rect">
            <a:avLst/>
          </a:prstGeom>
          <a:noFill/>
          <a:ln/>
        </p:spPr>
        <p:txBody>
          <a:bodyPr wrap="square" lIns="0" tIns="0" rIns="0" bIns="0" rtlCol="0" anchor="ctr"/>
          <a:lstStyle/>
          <a:p>
            <a:pPr indent="0" marL="0">
              <a:buNone/>
            </a:pPr>
            <a:r>
              <a:rPr lang="en-US" sz="1900" b="1" dirty="0">
                <a:solidFill>
                  <a:schemeClr val="tx1"/>
                </a:solidFill>
              </a:rPr>
              <a:t>Rank the turn</a:t>
            </a:r>
            <a:endParaRPr lang="en-US" sz="1900" dirty="0"/>
          </a:p>
        </p:txBody>
      </p:sp>
      <p:sp>
        <p:nvSpPr>
          <p:cNvPr id="10" name="Text 7"/>
          <p:cNvSpPr txBox="1"/>
          <p:nvPr/>
        </p:nvSpPr>
        <p:spPr>
          <a:xfrm>
            <a:off x="822960" y="3611880"/>
            <a:ext cx="2971800" cy="1280160"/>
          </a:xfrm>
          <a:prstGeom prst="rect">
            <a:avLst/>
          </a:prstGeom>
          <a:noFill/>
          <a:ln/>
        </p:spPr>
        <p:txBody>
          <a:bodyPr wrap="square" lIns="0" tIns="0" rIns="0" bIns="0" rtlCol="0" anchor="t"/>
          <a:lstStyle/>
          <a:p>
            <a:pPr indent="0" marL="0">
              <a:buNone/>
            </a:pPr>
            <a:r>
              <a:rPr lang="en-US" sz="1600" dirty="0">
                <a:solidFill>
                  <a:schemeClr val="tx2"/>
                </a:solidFill>
              </a:rPr>
              <a:t>BM25 + MiniLM, fused by reciprocal rank (k = 60). Catches exact words and paraphrases.</a:t>
            </a:r>
            <a:endParaRPr lang="en-US" sz="1600" dirty="0"/>
          </a:p>
        </p:txBody>
      </p:sp>
      <p:sp>
        <p:nvSpPr>
          <p:cNvPr id="11" name="part-2"/>
          <p:cNvSpPr/>
          <p:nvPr/>
        </p:nvSpPr>
        <p:spPr>
          <a:xfrm>
            <a:off x="4297680" y="2651760"/>
            <a:ext cx="3474720" cy="2331720"/>
          </a:xfrm>
          <a:prstGeom prst="roundRect">
            <a:avLst>
              <a:gd name="adj" fmla="val 3137"/>
            </a:avLst>
          </a:prstGeom>
          <a:solidFill>
            <a:schemeClr val="bg2"/>
          </a:solidFill>
          <a:ln w="12700">
            <a:solidFill>
              <a:schemeClr val="bg2"/>
            </a:solidFill>
            <a:prstDash val="solid"/>
          </a:ln>
        </p:spPr>
      </p:sp>
      <p:sp>
        <p:nvSpPr>
          <p:cNvPr id="12" name="badge-2"/>
          <p:cNvSpPr/>
          <p:nvPr/>
        </p:nvSpPr>
        <p:spPr>
          <a:xfrm>
            <a:off x="4572000" y="2880360"/>
            <a:ext cx="548640" cy="548640"/>
          </a:xfrm>
          <a:prstGeom prst="ellipse">
            <a:avLst/>
          </a:prstGeom>
          <a:solidFill>
            <a:schemeClr val="accent1"/>
          </a:solidFill>
          <a:ln w="12700">
            <a:solidFill>
              <a:schemeClr val="accent1"/>
            </a:solidFill>
            <a:prstDash val="solid"/>
          </a:ln>
        </p:spPr>
      </p:sp>
      <p:sp>
        <p:nvSpPr>
          <p:cNvPr id="13" name="Text 10"/>
          <p:cNvSpPr txBox="1"/>
          <p:nvPr/>
        </p:nvSpPr>
        <p:spPr>
          <a:xfrm>
            <a:off x="4572000" y="2880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5257800" y="2834640"/>
            <a:ext cx="2377440" cy="640080"/>
          </a:xfrm>
          <a:prstGeom prst="rect">
            <a:avLst/>
          </a:prstGeom>
          <a:noFill/>
          <a:ln/>
        </p:spPr>
        <p:txBody>
          <a:bodyPr wrap="square" lIns="0" tIns="0" rIns="0" bIns="0" rtlCol="0" anchor="ctr"/>
          <a:lstStyle/>
          <a:p>
            <a:pPr indent="0" marL="0">
              <a:buNone/>
            </a:pPr>
            <a:r>
              <a:rPr lang="en-US" sz="1900" b="1" dirty="0">
                <a:solidFill>
                  <a:schemeClr val="tx1"/>
                </a:solidFill>
              </a:rPr>
              <a:t>Prefer relevant topics</a:t>
            </a:r>
            <a:endParaRPr lang="en-US" sz="1900" dirty="0"/>
          </a:p>
        </p:txBody>
      </p:sp>
      <p:sp>
        <p:nvSpPr>
          <p:cNvPr id="15" name="Text 12"/>
          <p:cNvSpPr txBox="1"/>
          <p:nvPr/>
        </p:nvSpPr>
        <p:spPr>
          <a:xfrm>
            <a:off x="4572000" y="3611880"/>
            <a:ext cx="2971800" cy="1280160"/>
          </a:xfrm>
          <a:prstGeom prst="rect">
            <a:avLst/>
          </a:prstGeom>
          <a:noFill/>
          <a:ln/>
        </p:spPr>
        <p:txBody>
          <a:bodyPr wrap="square" lIns="0" tIns="0" rIns="0" bIns="0" rtlCol="0" anchor="t"/>
          <a:lstStyle/>
          <a:p>
            <a:pPr indent="0" marL="0">
              <a:buNone/>
            </a:pPr>
            <a:r>
              <a:rPr lang="en-US" sz="1600" dirty="0">
                <a:solidFill>
                  <a:schemeClr val="tx2"/>
                </a:solidFill>
              </a:rPr>
              <a:t>Topic rank from BM25 on topic text + MiniLM centroid. Weight w = 0.25.</a:t>
            </a:r>
            <a:endParaRPr lang="en-US" sz="1600" dirty="0"/>
          </a:p>
        </p:txBody>
      </p:sp>
      <p:sp>
        <p:nvSpPr>
          <p:cNvPr id="16" name="part-3"/>
          <p:cNvSpPr/>
          <p:nvPr/>
        </p:nvSpPr>
        <p:spPr>
          <a:xfrm>
            <a:off x="8046720" y="2651760"/>
            <a:ext cx="3474720" cy="2331720"/>
          </a:xfrm>
          <a:prstGeom prst="roundRect">
            <a:avLst>
              <a:gd name="adj" fmla="val 3137"/>
            </a:avLst>
          </a:prstGeom>
          <a:solidFill>
            <a:schemeClr val="bg2"/>
          </a:solidFill>
          <a:ln w="12700">
            <a:solidFill>
              <a:schemeClr val="bg2"/>
            </a:solidFill>
            <a:prstDash val="solid"/>
          </a:ln>
        </p:spPr>
      </p:sp>
      <p:sp>
        <p:nvSpPr>
          <p:cNvPr id="17" name="badge-3"/>
          <p:cNvSpPr/>
          <p:nvPr/>
        </p:nvSpPr>
        <p:spPr>
          <a:xfrm>
            <a:off x="8321040" y="2880360"/>
            <a:ext cx="548640" cy="548640"/>
          </a:xfrm>
          <a:prstGeom prst="ellipse">
            <a:avLst/>
          </a:prstGeom>
          <a:solidFill>
            <a:schemeClr val="accent2"/>
          </a:solidFill>
          <a:ln w="12700">
            <a:solidFill>
              <a:schemeClr val="accent2"/>
            </a:solidFill>
            <a:prstDash val="solid"/>
          </a:ln>
        </p:spPr>
      </p:sp>
      <p:sp>
        <p:nvSpPr>
          <p:cNvPr id="18" name="Text 15"/>
          <p:cNvSpPr txBox="1"/>
          <p:nvPr/>
        </p:nvSpPr>
        <p:spPr>
          <a:xfrm>
            <a:off x="8321040" y="2880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9" name="Text 16"/>
          <p:cNvSpPr txBox="1"/>
          <p:nvPr/>
        </p:nvSpPr>
        <p:spPr>
          <a:xfrm>
            <a:off x="9006840" y="2834640"/>
            <a:ext cx="2377440" cy="640080"/>
          </a:xfrm>
          <a:prstGeom prst="rect">
            <a:avLst/>
          </a:prstGeom>
          <a:noFill/>
          <a:ln/>
        </p:spPr>
        <p:txBody>
          <a:bodyPr wrap="square" lIns="0" tIns="0" rIns="0" bIns="0" rtlCol="0" anchor="ctr"/>
          <a:lstStyle/>
          <a:p>
            <a:pPr indent="0" marL="0">
              <a:buNone/>
            </a:pPr>
            <a:r>
              <a:rPr lang="en-US" sz="1900" b="1" dirty="0">
                <a:solidFill>
                  <a:schemeClr val="tx1"/>
                </a:solidFill>
              </a:rPr>
              <a:t>Read the user</a:t>
            </a:r>
            <a:endParaRPr lang="en-US" sz="1900" dirty="0"/>
          </a:p>
        </p:txBody>
      </p:sp>
      <p:sp>
        <p:nvSpPr>
          <p:cNvPr id="20" name="Text 17"/>
          <p:cNvSpPr txBox="1"/>
          <p:nvPr/>
        </p:nvSpPr>
        <p:spPr>
          <a:xfrm>
            <a:off x="8321040" y="3611880"/>
            <a:ext cx="2971800" cy="1280160"/>
          </a:xfrm>
          <a:prstGeom prst="rect">
            <a:avLst/>
          </a:prstGeom>
          <a:noFill/>
          <a:ln/>
        </p:spPr>
        <p:txBody>
          <a:bodyPr wrap="square" lIns="0" tIns="0" rIns="0" bIns="0" rtlCol="0" anchor="t"/>
          <a:lstStyle/>
          <a:p>
            <a:pPr indent="0" marL="0">
              <a:buNone/>
            </a:pPr>
            <a:r>
              <a:rPr lang="en-US" sz="1600" dirty="0">
                <a:solidFill>
                  <a:schemeClr val="tx2"/>
                </a:solidFill>
              </a:rPr>
              <a:t>User turns inside the k = 3 best topics get β = 0.5. Personal facts are what the user said.</a:t>
            </a:r>
            <a:endParaRPr lang="en-US" sz="1600" dirty="0"/>
          </a:p>
        </p:txBody>
      </p:sp>
      <p:sp>
        <p:nvSpPr>
          <p:cNvPr id="21" name="fill-box"/>
          <p:cNvSpPr/>
          <p:nvPr/>
        </p:nvSpPr>
        <p:spPr>
          <a:xfrm>
            <a:off x="548640" y="5212080"/>
            <a:ext cx="11064240" cy="868680"/>
          </a:xfrm>
          <a:prstGeom prst="roundRect">
            <a:avLst>
              <a:gd name="adj" fmla="val 8421"/>
            </a:avLst>
          </a:prstGeom>
          <a:solidFill>
            <a:srgbClr val="EAF2FC"/>
          </a:solidFill>
          <a:ln w="12700">
            <a:solidFill>
              <a:srgbClr val="EAF2FC"/>
            </a:solidFill>
            <a:prstDash val="solid"/>
          </a:ln>
        </p:spPr>
      </p:sp>
      <p:sp>
        <p:nvSpPr>
          <p:cNvPr id="22" name="Text 19"/>
          <p:cNvSpPr txBox="1"/>
          <p:nvPr/>
        </p:nvSpPr>
        <p:spPr>
          <a:xfrm>
            <a:off x="822960" y="5212080"/>
            <a:ext cx="10607040" cy="868680"/>
          </a:xfrm>
          <a:prstGeom prst="rect">
            <a:avLst/>
          </a:prstGeom>
          <a:noFill/>
          <a:ln/>
        </p:spPr>
        <p:txBody>
          <a:bodyPr wrap="square" lIns="0" tIns="0" rIns="0" bIns="0" rtlCol="0" anchor="ctr"/>
          <a:lstStyle/>
          <a:p>
            <a:pPr indent="0" marL="0">
              <a:buNone/>
            </a:pPr>
            <a:r>
              <a:rPr lang="en-US" sz="1600" b="1" dirty="0">
                <a:solidFill>
                  <a:schemeClr val="accent1"/>
                </a:solidFill>
              </a:rPr>
              <a:t>Budget fill: </a:t>
            </a:r>
            <a:pPr indent="0" marL="0">
              <a:buNone/>
            </a:pPr>
            <a:r>
              <a:rPr lang="en-US" sz="1600" dirty="0">
                <a:solidFill>
                  <a:schemeClr val="tx1"/>
                </a:solidFill>
              </a:rPr>
              <a:t>75% of the budget by f, then a 25% reserve for the remaining user turns of every topic already read. Context shown in time order with session dates.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Why read the user? User turns are five times shorter</a:t>
            </a:r>
            <a:endParaRPr lang="en-US" sz="3000" dirty="0"/>
          </a:p>
        </p:txBody>
      </p:sp>
      <p:graphicFrame>
        <p:nvGraphicFramePr>
          <p:cNvPr id="4" name="Chart 0" descr=""/>
          <p:cNvGraphicFramePr/>
          <p:nvPr/>
        </p:nvGraphicFramePr>
        <p:xfrm>
          <a:off x="457200" y="132588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589520" y="1463040"/>
            <a:ext cx="40233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25.3 vs 11.6</a:t>
            </a:r>
            <a:endParaRPr lang="en-US" sz="4000" dirty="0"/>
          </a:p>
        </p:txBody>
      </p:sp>
      <p:sp>
        <p:nvSpPr>
          <p:cNvPr id="6" name="Text 2"/>
          <p:cNvSpPr txBox="1"/>
          <p:nvPr/>
        </p:nvSpPr>
        <p:spPr>
          <a:xfrm>
            <a:off x="7589520" y="2176272"/>
            <a:ext cx="4023360" cy="685800"/>
          </a:xfrm>
          <a:prstGeom prst="rect">
            <a:avLst/>
          </a:prstGeom>
          <a:noFill/>
          <a:ln/>
        </p:spPr>
        <p:txBody>
          <a:bodyPr wrap="square" lIns="0" tIns="0" rIns="0" bIns="0" rtlCol="0" anchor="t"/>
          <a:lstStyle/>
          <a:p>
            <a:pPr indent="0" marL="0">
              <a:buNone/>
            </a:pPr>
            <a:r>
              <a:rPr lang="en-US" sz="1500" dirty="0">
                <a:solidFill>
                  <a:schemeClr val="tx2"/>
                </a:solidFill>
              </a:rPr>
              <a:t>turns fit in the same 2,048 tokens: ΔContext-R vs turn-level retrieval</a:t>
            </a:r>
            <a:endParaRPr lang="en-US" sz="1500" dirty="0"/>
          </a:p>
        </p:txBody>
      </p:sp>
      <p:sp>
        <p:nvSpPr>
          <p:cNvPr id="7" name="Text 3"/>
          <p:cNvSpPr txBox="1"/>
          <p:nvPr/>
        </p:nvSpPr>
        <p:spPr>
          <a:xfrm>
            <a:off x="7589520" y="3063240"/>
            <a:ext cx="402336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67%</a:t>
            </a:r>
            <a:endParaRPr lang="en-US" sz="4000" dirty="0"/>
          </a:p>
        </p:txBody>
      </p:sp>
      <p:sp>
        <p:nvSpPr>
          <p:cNvPr id="8" name="Text 4"/>
          <p:cNvSpPr txBox="1"/>
          <p:nvPr/>
        </p:nvSpPr>
        <p:spPr>
          <a:xfrm>
            <a:off x="7589520" y="3776472"/>
            <a:ext cx="4023360" cy="685800"/>
          </a:xfrm>
          <a:prstGeom prst="rect">
            <a:avLst/>
          </a:prstGeom>
          <a:noFill/>
          <a:ln/>
        </p:spPr>
        <p:txBody>
          <a:bodyPr wrap="square" lIns="0" tIns="0" rIns="0" bIns="0" rtlCol="0" anchor="t"/>
          <a:lstStyle/>
          <a:p>
            <a:pPr indent="0" marL="0">
              <a:buNone/>
            </a:pPr>
            <a:r>
              <a:rPr lang="en-US" sz="1500" dirty="0">
                <a:solidFill>
                  <a:schemeClr val="tx2"/>
                </a:solidFill>
              </a:rPr>
              <a:t>of the evidence a turn ranker misses lies inside topics it already read (dev)</a:t>
            </a:r>
            <a:endParaRPr lang="en-US" sz="1500" dirty="0"/>
          </a:p>
        </p:txBody>
      </p:sp>
      <p:sp>
        <p:nvSpPr>
          <p:cNvPr id="9" name="Text 5"/>
          <p:cNvSpPr txBox="1"/>
          <p:nvPr/>
        </p:nvSpPr>
        <p:spPr>
          <a:xfrm>
            <a:off x="7589520" y="4663440"/>
            <a:ext cx="402336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&gt; 2K tokens</a:t>
            </a:r>
            <a:endParaRPr lang="en-US" sz="4000" dirty="0"/>
          </a:p>
        </p:txBody>
      </p:sp>
      <p:sp>
        <p:nvSpPr>
          <p:cNvPr id="10" name="Text 6"/>
          <p:cNvSpPr txBox="1"/>
          <p:nvPr/>
        </p:nvSpPr>
        <p:spPr>
          <a:xfrm>
            <a:off x="7589520" y="5376672"/>
            <a:ext cx="4023360" cy="685800"/>
          </a:xfrm>
          <a:prstGeom prst="rect">
            <a:avLst/>
          </a:prstGeom>
          <a:noFill/>
          <a:ln/>
        </p:spPr>
        <p:txBody>
          <a:bodyPr wrap="square" lIns="0" tIns="0" rIns="0" bIns="0" rtlCol="0" anchor="t"/>
          <a:lstStyle/>
          <a:p>
            <a:pPr indent="0" marL="0">
              <a:buNone/>
            </a:pPr>
            <a:r>
              <a:rPr lang="en-US" sz="1500" dirty="0">
                <a:solidFill>
                  <a:schemeClr val="tx2"/>
                </a:solidFill>
              </a:rPr>
              <a:t>a single topic or session: larger than the whole budget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badge"/>
          <p:cNvSpPr/>
          <p:nvPr/>
        </p:nvSpPr>
        <p:spPr>
          <a:xfrm>
            <a:off x="731520" y="265176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651760"/>
            <a:ext cx="1097280" cy="109728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3</a:t>
            </a:r>
            <a:endParaRPr lang="en-US" sz="3600" dirty="0"/>
          </a:p>
        </p:txBody>
      </p:sp>
      <p:sp>
        <p:nvSpPr>
          <p:cNvPr id="4" name="Text 0"/>
          <p:cNvSpPr/>
          <p:nvPr>
            <p:ph idx="100" type="title" hasCustomPrompt="1"/>
          </p:nvPr>
        </p:nvSpPr>
        <p:spPr>
          <a:xfrm>
            <a:off x="2194560" y="265176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rPr>
              <a:t>Results</a:t>
            </a:r>
            <a:endParaRPr lang="en-US" sz="4000" dirty="0"/>
          </a:p>
        </p:txBody>
      </p:sp>
      <p:sp>
        <p:nvSpPr>
          <p:cNvPr id="5" name="Text 0"/>
          <p:cNvSpPr/>
          <p:nvPr>
            <p:ph idx="101" type="body" hasCustomPrompt="1"/>
          </p:nvPr>
        </p:nvSpPr>
        <p:spPr>
          <a:xfrm>
            <a:off x="2194560" y="3566160"/>
            <a:ext cx="9144000" cy="731520"/>
          </a:xfrm>
          <a:prstGeom prst="rect">
            <a:avLst/>
          </a:prstGeom>
          <a:noFill/>
          <a:ln/>
        </p:spPr>
        <p:txBody>
          <a:bodyPr wrap="square" lIns="0" tIns="0" rIns="0" bIns="0" rtlCol="0" anchor="t"/>
          <a:lstStyle/>
          <a:p>
            <a:pPr indent="0" marL="0">
              <a:buNone/>
            </a:pPr>
            <a:r>
              <a:rPr lang="en-US" sz="2000" dirty="0">
                <a:solidFill>
                  <a:schemeClr val="bg2"/>
                </a:solidFill>
              </a:rPr>
              <a:t>Storage quality, evidence recall and answer quality</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Experimental setup</a:t>
            </a:r>
            <a:endParaRPr lang="en-US" sz="3000" dirty="0"/>
          </a:p>
        </p:txBody>
      </p:sp>
      <p:sp>
        <p:nvSpPr>
          <p:cNvPr id="4" name="setup-0"/>
          <p:cNvSpPr/>
          <p:nvPr/>
        </p:nvSpPr>
        <p:spPr>
          <a:xfrm>
            <a:off x="548640" y="1371600"/>
            <a:ext cx="5394960" cy="3246120"/>
          </a:xfrm>
          <a:prstGeom prst="roundRect">
            <a:avLst>
              <a:gd name="adj" fmla="val 2254"/>
            </a:avLst>
          </a:prstGeom>
          <a:solidFill>
            <a:schemeClr val="bg2"/>
          </a:solidFill>
          <a:ln w="12700">
            <a:solidFill>
              <a:schemeClr val="bg2"/>
            </a:solidFill>
            <a:prstDash val="solid"/>
          </a:ln>
        </p:spPr>
      </p:sp>
      <p:sp>
        <p:nvSpPr>
          <p:cNvPr id="5" name="Text 2"/>
          <p:cNvSpPr txBox="1"/>
          <p:nvPr/>
        </p:nvSpPr>
        <p:spPr>
          <a:xfrm>
            <a:off x="868680" y="1554480"/>
            <a:ext cx="4754880" cy="5029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Dataset</a:t>
            </a:r>
            <a:endParaRPr lang="en-US" sz="2200" dirty="0"/>
          </a:p>
        </p:txBody>
      </p:sp>
      <p:sp>
        <p:nvSpPr>
          <p:cNvPr id="6" name="Text 3"/>
          <p:cNvSpPr txBox="1"/>
          <p:nvPr/>
        </p:nvSpPr>
        <p:spPr>
          <a:xfrm>
            <a:off x="868680" y="2148840"/>
            <a:ext cx="484632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2"/>
                </a:solidFill>
              </a:rPr>
              <a:t>LongMemEval-S (ICLR 2025)</a:t>
            </a:r>
            <a:endParaRPr lang="en-US" sz="1700" dirty="0"/>
          </a:p>
          <a:p>
            <a:pPr marL="342900" indent="-342900">
              <a:spcAft>
                <a:spcPts val="800"/>
              </a:spcAft>
              <a:buSzPct val="100000"/>
              <a:buChar char="•"/>
            </a:pPr>
            <a:r>
              <a:rPr lang="en-US" sz="1700" dirty="0">
                <a:solidFill>
                  <a:schemeClr val="tx2"/>
                </a:solidFill>
              </a:rPr>
              <a:t>500 questions, each with a ~492-turn, ~48-session history</a:t>
            </a:r>
            <a:endParaRPr lang="en-US" sz="1700" dirty="0"/>
          </a:p>
          <a:p>
            <a:pPr marL="342900" indent="-342900">
              <a:spcAft>
                <a:spcPts val="800"/>
              </a:spcAft>
              <a:buSzPct val="100000"/>
              <a:buChar char="•"/>
            </a:pPr>
            <a:r>
              <a:rPr lang="en-US" sz="1700" dirty="0">
                <a:solidFill>
                  <a:schemeClr val="tx2"/>
                </a:solidFill>
              </a:rPr>
              <a:t>Turn-level evidence labels</a:t>
            </a:r>
            <a:endParaRPr lang="en-US" sz="1700" dirty="0"/>
          </a:p>
          <a:p>
            <a:pPr marL="342900" indent="-342900">
              <a:spcAft>
                <a:spcPts val="800"/>
              </a:spcAft>
              <a:buSzPct val="100000"/>
              <a:buChar char="•"/>
            </a:pPr>
            <a:r>
              <a:rPr lang="en-US" sz="1700" dirty="0">
                <a:solidFill>
                  <a:schemeClr val="tx2"/>
                </a:solidFill>
              </a:rPr>
              <a:t>Seeded split: 250 dev / 250 test histories</a:t>
            </a:r>
            <a:endParaRPr lang="en-US" sz="1700" dirty="0"/>
          </a:p>
          <a:p>
            <a:pPr marL="342900" indent="-342900">
              <a:spcAft>
                <a:spcPts val="800"/>
              </a:spcAft>
              <a:buSzPct val="100000"/>
              <a:buChar char="•"/>
            </a:pPr>
            <a:r>
              <a:rPr lang="en-US" sz="1700" dirty="0">
                <a:solidFill>
                  <a:schemeClr val="tx2"/>
                </a:solidFill>
              </a:rPr>
              <a:t>237 answerable test questions</a:t>
            </a:r>
            <a:endParaRPr lang="en-US" sz="1700" dirty="0"/>
          </a:p>
        </p:txBody>
      </p:sp>
      <p:sp>
        <p:nvSpPr>
          <p:cNvPr id="7" name="setup-1"/>
          <p:cNvSpPr/>
          <p:nvPr/>
        </p:nvSpPr>
        <p:spPr>
          <a:xfrm>
            <a:off x="6217920" y="1371600"/>
            <a:ext cx="5394960" cy="3246120"/>
          </a:xfrm>
          <a:prstGeom prst="roundRect">
            <a:avLst>
              <a:gd name="adj" fmla="val 2254"/>
            </a:avLst>
          </a:prstGeom>
          <a:solidFill>
            <a:schemeClr val="bg2"/>
          </a:solidFill>
          <a:ln w="12700">
            <a:solidFill>
              <a:schemeClr val="bg2"/>
            </a:solidFill>
            <a:prstDash val="solid"/>
          </a:ln>
        </p:spPr>
      </p:sp>
      <p:sp>
        <p:nvSpPr>
          <p:cNvPr id="8" name="Text 5"/>
          <p:cNvSpPr txBox="1"/>
          <p:nvPr/>
        </p:nvSpPr>
        <p:spPr>
          <a:xfrm>
            <a:off x="6537960" y="1554480"/>
            <a:ext cx="4754880" cy="50292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Protocol</a:t>
            </a:r>
            <a:endParaRPr lang="en-US" sz="2200" dirty="0"/>
          </a:p>
        </p:txBody>
      </p:sp>
      <p:sp>
        <p:nvSpPr>
          <p:cNvPr id="9" name="Text 6"/>
          <p:cNvSpPr txBox="1"/>
          <p:nvPr/>
        </p:nvSpPr>
        <p:spPr>
          <a:xfrm>
            <a:off x="6537960" y="2148840"/>
            <a:ext cx="484632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2"/>
                </a:solidFill>
              </a:rPr>
              <a:t>Reader: Qwen2.5-3B-Instruct, greedy decoding</a:t>
            </a:r>
            <a:endParaRPr lang="en-US" sz="1700" dirty="0"/>
          </a:p>
          <a:p>
            <a:pPr marL="342900" indent="-342900">
              <a:spcAft>
                <a:spcPts val="800"/>
              </a:spcAft>
              <a:buSzPct val="100000"/>
              <a:buChar char="•"/>
            </a:pPr>
            <a:r>
              <a:rPr lang="en-US" sz="1700" dirty="0">
                <a:solidFill>
                  <a:schemeClr val="tx2"/>
                </a:solidFill>
              </a:rPr>
              <a:t>Budgets: 2,048 and 4,096 context tokens</a:t>
            </a:r>
            <a:endParaRPr lang="en-US" sz="1700" dirty="0"/>
          </a:p>
          <a:p>
            <a:pPr marL="342900" indent="-342900">
              <a:spcAft>
                <a:spcPts val="800"/>
              </a:spcAft>
              <a:buSzPct val="100000"/>
              <a:buChar char="•"/>
            </a:pPr>
            <a:r>
              <a:rPr lang="en-US" sz="1700" dirty="0">
                <a:solidFill>
                  <a:schemeClr val="tx2"/>
                </a:solidFill>
              </a:rPr>
              <a:t>Same prompt, token counter and reader for all</a:t>
            </a:r>
            <a:endParaRPr lang="en-US" sz="1700" dirty="0"/>
          </a:p>
          <a:p>
            <a:pPr marL="342900" indent="-342900">
              <a:spcAft>
                <a:spcPts val="800"/>
              </a:spcAft>
              <a:buSzPct val="100000"/>
              <a:buChar char="•"/>
            </a:pPr>
            <a:r>
              <a:rPr lang="en-US" sz="1700" dirty="0">
                <a:solidFill>
                  <a:schemeClr val="tx2"/>
                </a:solidFill>
              </a:rPr>
              <a:t>Settings chosen on dev, scored once on test</a:t>
            </a:r>
            <a:endParaRPr lang="en-US" sz="1700" dirty="0"/>
          </a:p>
          <a:p>
            <a:pPr marL="342900" indent="-342900">
              <a:spcAft>
                <a:spcPts val="800"/>
              </a:spcAft>
              <a:buSzPct val="100000"/>
              <a:buChar char="•"/>
            </a:pPr>
            <a:r>
              <a:rPr lang="en-US" sz="1700" dirty="0">
                <a:solidFill>
                  <a:schemeClr val="tx2"/>
                </a:solidFill>
              </a:rPr>
              <a:t>Paired bootstrap (10,000) + Holm correction</a:t>
            </a:r>
            <a:endParaRPr lang="en-US" sz="1700" dirty="0"/>
          </a:p>
        </p:txBody>
      </p:sp>
      <p:sp>
        <p:nvSpPr>
          <p:cNvPr id="10" name="Text 7"/>
          <p:cNvSpPr txBox="1"/>
          <p:nvPr/>
        </p:nvSpPr>
        <p:spPr>
          <a:xfrm>
            <a:off x="548640" y="4846320"/>
            <a:ext cx="3657600" cy="365760"/>
          </a:xfrm>
          <a:prstGeom prst="rect">
            <a:avLst/>
          </a:prstGeom>
          <a:noFill/>
          <a:ln/>
        </p:spPr>
        <p:txBody>
          <a:bodyPr wrap="square" lIns="0" tIns="0" rIns="0" bIns="0" rtlCol="0" anchor="t"/>
          <a:lstStyle/>
          <a:p>
            <a:pPr indent="0" marL="0">
              <a:buNone/>
            </a:pPr>
            <a:r>
              <a:rPr lang="en-US" sz="1600" b="1" dirty="0">
                <a:solidFill>
                  <a:schemeClr val="tx2"/>
                </a:solidFill>
              </a:rPr>
              <a:t>Metrics</a:t>
            </a:r>
            <a:endParaRPr lang="en-US" sz="1600" dirty="0"/>
          </a:p>
        </p:txBody>
      </p:sp>
      <p:sp>
        <p:nvSpPr>
          <p:cNvPr id="11" name="metric-0"/>
          <p:cNvSpPr/>
          <p:nvPr/>
        </p:nvSpPr>
        <p:spPr>
          <a:xfrm>
            <a:off x="548640" y="5394960"/>
            <a:ext cx="2606040" cy="685800"/>
          </a:xfrm>
          <a:prstGeom prst="roundRect">
            <a:avLst>
              <a:gd name="adj" fmla="val 10667"/>
            </a:avLst>
          </a:prstGeom>
          <a:solidFill>
            <a:srgbClr val="EAF2FC"/>
          </a:solidFill>
          <a:ln w="12700">
            <a:solidFill>
              <a:srgbClr val="EAF2FC"/>
            </a:solidFill>
            <a:prstDash val="solid"/>
          </a:ln>
        </p:spPr>
      </p:sp>
      <p:sp>
        <p:nvSpPr>
          <p:cNvPr id="12" name="Text 9"/>
          <p:cNvSpPr txBox="1"/>
          <p:nvPr/>
        </p:nvSpPr>
        <p:spPr>
          <a:xfrm>
            <a:off x="548640" y="5394960"/>
            <a:ext cx="2606040" cy="685800"/>
          </a:xfrm>
          <a:prstGeom prst="rect">
            <a:avLst/>
          </a:prstGeom>
          <a:noFill/>
          <a:ln/>
        </p:spPr>
        <p:txBody>
          <a:bodyPr wrap="square" lIns="0" tIns="0" rIns="0" bIns="0" rtlCol="0" anchor="ctr"/>
          <a:lstStyle/>
          <a:p>
            <a:pPr algn="ctr" indent="0" marL="0">
              <a:buNone/>
            </a:pPr>
            <a:r>
              <a:rPr lang="en-US" sz="1600" b="1" dirty="0">
                <a:solidFill>
                  <a:schemeClr val="accent1"/>
                </a:solidFill>
              </a:rPr>
              <a:t>Evidence recall</a:t>
            </a:r>
            <a:endParaRPr lang="en-US" sz="1600" dirty="0"/>
          </a:p>
        </p:txBody>
      </p:sp>
      <p:sp>
        <p:nvSpPr>
          <p:cNvPr id="13" name="metric-1"/>
          <p:cNvSpPr/>
          <p:nvPr/>
        </p:nvSpPr>
        <p:spPr>
          <a:xfrm>
            <a:off x="3337560" y="5394960"/>
            <a:ext cx="2606040" cy="685800"/>
          </a:xfrm>
          <a:prstGeom prst="roundRect">
            <a:avLst>
              <a:gd name="adj" fmla="val 10667"/>
            </a:avLst>
          </a:prstGeom>
          <a:solidFill>
            <a:srgbClr val="EAF2FC"/>
          </a:solidFill>
          <a:ln w="12700">
            <a:solidFill>
              <a:srgbClr val="EAF2FC"/>
            </a:solidFill>
            <a:prstDash val="solid"/>
          </a:ln>
        </p:spPr>
      </p:sp>
      <p:sp>
        <p:nvSpPr>
          <p:cNvPr id="14" name="Text 11"/>
          <p:cNvSpPr txBox="1"/>
          <p:nvPr/>
        </p:nvSpPr>
        <p:spPr>
          <a:xfrm>
            <a:off x="3337560" y="5394960"/>
            <a:ext cx="2606040" cy="685800"/>
          </a:xfrm>
          <a:prstGeom prst="rect">
            <a:avLst/>
          </a:prstGeom>
          <a:noFill/>
          <a:ln/>
        </p:spPr>
        <p:txBody>
          <a:bodyPr wrap="square" lIns="0" tIns="0" rIns="0" bIns="0" rtlCol="0" anchor="ctr"/>
          <a:lstStyle/>
          <a:p>
            <a:pPr algn="ctr" indent="0" marL="0">
              <a:buNone/>
            </a:pPr>
            <a:r>
              <a:rPr lang="en-US" sz="1600" b="1" dirty="0">
                <a:solidFill>
                  <a:schemeClr val="accent1"/>
                </a:solidFill>
              </a:rPr>
              <a:t>All-evidence rate</a:t>
            </a:r>
            <a:endParaRPr lang="en-US" sz="1600" dirty="0"/>
          </a:p>
        </p:txBody>
      </p:sp>
      <p:sp>
        <p:nvSpPr>
          <p:cNvPr id="15" name="metric-2"/>
          <p:cNvSpPr/>
          <p:nvPr/>
        </p:nvSpPr>
        <p:spPr>
          <a:xfrm>
            <a:off x="6126480" y="5394960"/>
            <a:ext cx="2606040" cy="685800"/>
          </a:xfrm>
          <a:prstGeom prst="roundRect">
            <a:avLst>
              <a:gd name="adj" fmla="val 10667"/>
            </a:avLst>
          </a:prstGeom>
          <a:solidFill>
            <a:srgbClr val="EAF2FC"/>
          </a:solidFill>
          <a:ln w="12700">
            <a:solidFill>
              <a:srgbClr val="EAF2FC"/>
            </a:solidFill>
            <a:prstDash val="solid"/>
          </a:ln>
        </p:spPr>
      </p:sp>
      <p:sp>
        <p:nvSpPr>
          <p:cNvPr id="16" name="Text 13"/>
          <p:cNvSpPr txBox="1"/>
          <p:nvPr/>
        </p:nvSpPr>
        <p:spPr>
          <a:xfrm>
            <a:off x="6126480" y="5394960"/>
            <a:ext cx="2606040" cy="685800"/>
          </a:xfrm>
          <a:prstGeom prst="rect">
            <a:avLst/>
          </a:prstGeom>
          <a:noFill/>
          <a:ln/>
        </p:spPr>
        <p:txBody>
          <a:bodyPr wrap="square" lIns="0" tIns="0" rIns="0" bIns="0" rtlCol="0" anchor="ctr"/>
          <a:lstStyle/>
          <a:p>
            <a:pPr algn="ctr" indent="0" marL="0">
              <a:buNone/>
            </a:pPr>
            <a:r>
              <a:rPr lang="en-US" sz="1600" b="1" dirty="0">
                <a:solidFill>
                  <a:schemeClr val="accent1"/>
                </a:solidFill>
              </a:rPr>
              <a:t>Answer token F1</a:t>
            </a:r>
            <a:endParaRPr lang="en-US" sz="1600" dirty="0"/>
          </a:p>
        </p:txBody>
      </p:sp>
      <p:sp>
        <p:nvSpPr>
          <p:cNvPr id="17" name="metric-3"/>
          <p:cNvSpPr/>
          <p:nvPr/>
        </p:nvSpPr>
        <p:spPr>
          <a:xfrm>
            <a:off x="8915400" y="5394960"/>
            <a:ext cx="2606040" cy="685800"/>
          </a:xfrm>
          <a:prstGeom prst="roundRect">
            <a:avLst>
              <a:gd name="adj" fmla="val 10667"/>
            </a:avLst>
          </a:prstGeom>
          <a:solidFill>
            <a:srgbClr val="EAF2FC"/>
          </a:solidFill>
          <a:ln w="12700">
            <a:solidFill>
              <a:srgbClr val="EAF2FC"/>
            </a:solidFill>
            <a:prstDash val="solid"/>
          </a:ln>
        </p:spPr>
      </p:sp>
      <p:sp>
        <p:nvSpPr>
          <p:cNvPr id="18" name="Text 15"/>
          <p:cNvSpPr txBox="1"/>
          <p:nvPr/>
        </p:nvSpPr>
        <p:spPr>
          <a:xfrm>
            <a:off x="8915400" y="5394960"/>
            <a:ext cx="2606040" cy="685800"/>
          </a:xfrm>
          <a:prstGeom prst="rect">
            <a:avLst/>
          </a:prstGeom>
          <a:noFill/>
          <a:ln/>
        </p:spPr>
        <p:txBody>
          <a:bodyPr wrap="square" lIns="0" tIns="0" rIns="0" bIns="0" rtlCol="0" anchor="ctr"/>
          <a:lstStyle/>
          <a:p>
            <a:pPr algn="ctr" indent="0" marL="0">
              <a:buNone/>
            </a:pPr>
            <a:r>
              <a:rPr lang="en-US" sz="1600" b="1" dirty="0">
                <a:solidFill>
                  <a:schemeClr val="accent1"/>
                </a:solidFill>
              </a:rPr>
              <a:t>Exact match</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Storage: online topics are accurate and never revised</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2377440"/>
                <a:gridCol w="822960"/>
                <a:gridCol w="822960"/>
                <a:gridCol w="1188720"/>
                <a:gridCol w="1280160"/>
                <a:gridCol w="1188720"/>
              </a:tblGrid>
              <a:tr h="566928">
                <a:tc>
                  <a:txBody>
                    <a:bodyPr/>
                    <a:lstStyle/>
                    <a:p>
                      <a:pPr indent="0" marL="0">
                        <a:buNone/>
                      </a:pPr>
                      <a:r>
                        <a:rPr lang="en-US" sz="1500" b="1" dirty="0">
                          <a:solidFill>
                            <a:schemeClr val="bg1"/>
                          </a:solidFill>
                        </a:rPr>
                        <a:t>Segmenter</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Online</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Pk ↓</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Boundary F1 ↑</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Revisions / 100 turns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LLM calls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566928">
                <a:tc>
                  <a:txBody>
                    <a:bodyPr/>
                    <a:lstStyle/>
                    <a:p>
                      <a:pPr indent="0" marL="0">
                        <a:buNone/>
                      </a:pPr>
                      <a:r>
                        <a:rPr lang="en-US" sz="1500" b="1" dirty="0">
                          <a:solidFill>
                            <a:schemeClr val="tx1"/>
                          </a:solidFill>
                        </a:rPr>
                        <a:t>ΔContext (ours)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500" b="1" dirty="0">
                          <a:solidFill>
                            <a:schemeClr val="tx1"/>
                          </a:solidFill>
                        </a:rPr>
                        <a:t>yes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500" b="1" dirty="0">
                          <a:solidFill>
                            <a:schemeClr val="tx1"/>
                          </a:solidFill>
                        </a:rPr>
                        <a:t>0.058</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500" b="1" dirty="0">
                          <a:solidFill>
                            <a:schemeClr val="tx1"/>
                          </a:solidFill>
                        </a:rPr>
                        <a:t>0.914</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500" b="1" dirty="0">
                          <a:solidFill>
                            <a:schemeClr val="tx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500" b="1" dirty="0">
                          <a:solidFill>
                            <a:schemeClr val="tx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r>
              <a:tr h="566928">
                <a:tc>
                  <a:txBody>
                    <a:bodyPr/>
                    <a:lstStyle/>
                    <a:p>
                      <a:pPr indent="0" marL="0">
                        <a:buNone/>
                      </a:pPr>
                      <a:r>
                        <a:rPr lang="en-US" sz="1500" dirty="0">
                          <a:solidFill>
                            <a:schemeClr val="tx1"/>
                          </a:solidFill>
                        </a:rPr>
                        <a:t>TextTiling</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no</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0.069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0.894</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17.0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Semantic chunking</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no</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0.141</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0.756</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17.6</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SeCom (GPT-4)</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no</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1 per session</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bl>
          </a:graphicData>
        </a:graphic>
      </p:graphicFrame>
      <p:sp>
        <p:nvSpPr>
          <p:cNvPr id="5" name="Text 1"/>
          <p:cNvSpPr txBox="1"/>
          <p:nvPr/>
        </p:nvSpPr>
        <p:spPr>
          <a:xfrm>
            <a:off x="548640" y="4343400"/>
            <a:ext cx="7680960" cy="365760"/>
          </a:xfrm>
          <a:prstGeom prst="rect">
            <a:avLst/>
          </a:prstGeom>
          <a:noFill/>
          <a:ln/>
        </p:spPr>
        <p:txBody>
          <a:bodyPr wrap="square" lIns="0" tIns="0" rIns="0" bIns="0" rtlCol="0" anchor="t"/>
          <a:lstStyle/>
          <a:p>
            <a:pPr indent="0" marL="0">
              <a:buNone/>
            </a:pPr>
            <a:r>
              <a:rPr lang="en-US" sz="1200" i="1" dirty="0">
                <a:solidFill>
                  <a:schemeClr val="accent6"/>
                </a:solidFill>
              </a:rPr>
              <a:t>250 LongMemEval-S test histories; reference = session boundaries; parameters tuned on dev.</a:t>
            </a:r>
            <a:endParaRPr lang="en-US" sz="1200" dirty="0"/>
          </a:p>
        </p:txBody>
      </p:sp>
      <p:sp>
        <p:nvSpPr>
          <p:cNvPr id="6" name="rev-card"/>
          <p:cNvSpPr/>
          <p:nvPr/>
        </p:nvSpPr>
        <p:spPr>
          <a:xfrm>
            <a:off x="8595360" y="1417320"/>
            <a:ext cx="3017520" cy="4206240"/>
          </a:xfrm>
          <a:prstGeom prst="roundRect">
            <a:avLst>
              <a:gd name="adj" fmla="val 2424"/>
            </a:avLst>
          </a:prstGeom>
          <a:solidFill>
            <a:schemeClr val="tx1"/>
          </a:solidFill>
          <a:ln w="12700">
            <a:solidFill>
              <a:schemeClr val="tx1"/>
            </a:solidFill>
            <a:prstDash val="solid"/>
          </a:ln>
        </p:spPr>
      </p:sp>
      <p:sp>
        <p:nvSpPr>
          <p:cNvPr id="7" name="Text 3"/>
          <p:cNvSpPr txBox="1"/>
          <p:nvPr/>
        </p:nvSpPr>
        <p:spPr>
          <a:xfrm>
            <a:off x="8595360" y="1691640"/>
            <a:ext cx="3017520" cy="1188720"/>
          </a:xfrm>
          <a:prstGeom prst="rect">
            <a:avLst/>
          </a:prstGeom>
          <a:noFill/>
          <a:ln/>
        </p:spPr>
        <p:txBody>
          <a:bodyPr wrap="square" lIns="0" tIns="0" rIns="0" bIns="0" rtlCol="0" anchor="t"/>
          <a:lstStyle/>
          <a:p>
            <a:pPr algn="ctr" indent="0" marL="0">
              <a:buNone/>
            </a:pPr>
            <a:r>
              <a:rPr lang="en-US" sz="8000" b="1" dirty="0">
                <a:solidFill>
                  <a:schemeClr val="bg1"/>
                </a:solidFill>
                <a:latin typeface="Cambria" pitchFamily="34" charset="0"/>
                <a:ea typeface="Cambria" pitchFamily="34" charset="-122"/>
                <a:cs typeface="Cambria" pitchFamily="34" charset="-120"/>
              </a:rPr>
              <a:t>0</a:t>
            </a:r>
            <a:endParaRPr lang="en-US" sz="8000" dirty="0"/>
          </a:p>
        </p:txBody>
      </p:sp>
      <p:sp>
        <p:nvSpPr>
          <p:cNvPr id="8" name="Text 4"/>
          <p:cNvSpPr txBox="1"/>
          <p:nvPr/>
        </p:nvSpPr>
        <p:spPr>
          <a:xfrm>
            <a:off x="8778240" y="2926080"/>
            <a:ext cx="2651760" cy="731520"/>
          </a:xfrm>
          <a:prstGeom prst="rect">
            <a:avLst/>
          </a:prstGeom>
          <a:noFill/>
          <a:ln/>
        </p:spPr>
        <p:txBody>
          <a:bodyPr wrap="square" lIns="0" tIns="0" rIns="0" bIns="0" rtlCol="0" anchor="t"/>
          <a:lstStyle/>
          <a:p>
            <a:pPr algn="ctr" indent="0" marL="0">
              <a:buNone/>
            </a:pPr>
            <a:r>
              <a:rPr lang="en-US" sz="1600" dirty="0">
                <a:solidFill>
                  <a:schemeClr val="bg2"/>
                </a:solidFill>
              </a:rPr>
              <a:t>boundary revisions per 100 new turns</a:t>
            </a:r>
            <a:endParaRPr lang="en-US" sz="1600" dirty="0"/>
          </a:p>
        </p:txBody>
      </p:sp>
      <p:sp>
        <p:nvSpPr>
          <p:cNvPr id="9" name="Text 5"/>
          <p:cNvSpPr txBox="1"/>
          <p:nvPr/>
        </p:nvSpPr>
        <p:spPr>
          <a:xfrm>
            <a:off x="8778240" y="3931920"/>
            <a:ext cx="2651760" cy="822960"/>
          </a:xfrm>
          <a:prstGeom prst="rect">
            <a:avLst/>
          </a:prstGeom>
          <a:noFill/>
          <a:ln/>
        </p:spPr>
        <p:txBody>
          <a:bodyPr wrap="square" lIns="0" tIns="0" rIns="0" bIns="0" rtlCol="0" anchor="t"/>
          <a:lstStyle/>
          <a:p>
            <a:pPr algn="ctr" indent="0" marL="0">
              <a:buNone/>
            </a:pPr>
            <a:r>
              <a:rPr lang="en-US" sz="1800" b="1" dirty="0">
                <a:solidFill>
                  <a:srgbClr val="F5A97F"/>
                </a:solidFill>
              </a:rPr>
              <a:t>vs 17 for the offline segmenters</a:t>
            </a:r>
            <a:endParaRPr lang="en-US" sz="1800" dirty="0"/>
          </a:p>
        </p:txBody>
      </p:sp>
      <p:sp>
        <p:nvSpPr>
          <p:cNvPr id="10" name="Text 6"/>
          <p:cNvSpPr txBox="1"/>
          <p:nvPr/>
        </p:nvSpPr>
        <p:spPr>
          <a:xfrm>
            <a:off x="548640" y="5029200"/>
            <a:ext cx="7680960" cy="731520"/>
          </a:xfrm>
          <a:prstGeom prst="rect">
            <a:avLst/>
          </a:prstGeom>
          <a:noFill/>
          <a:ln/>
        </p:spPr>
        <p:txBody>
          <a:bodyPr wrap="square" lIns="0" tIns="0" rIns="0" bIns="0" rtlCol="0" anchor="t"/>
          <a:lstStyle/>
          <a:p>
            <a:pPr indent="0" marL="0">
              <a:buNone/>
            </a:pPr>
            <a:r>
              <a:rPr lang="en-US" sz="1800" b="1" dirty="0">
                <a:solidFill>
                  <a:schemeClr val="accent1"/>
                </a:solidFill>
              </a:rPr>
              <a:t>Every revision forces the store to re-index topics: ΔContext never does.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Evidence recall: ΔContext-R retrieves the most evidence</a:t>
            </a:r>
            <a:endParaRPr lang="en-US" sz="3000" dirty="0"/>
          </a:p>
        </p:txBody>
      </p:sp>
      <p:graphicFrame>
        <p:nvGraphicFramePr>
          <p:cNvPr id="4" name="Chart 0" descr=""/>
          <p:cNvGraphicFramePr/>
          <p:nvPr/>
        </p:nvGraphicFramePr>
        <p:xfrm>
          <a:off x="457200" y="1325880"/>
          <a:ext cx="557784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72200" y="1325880"/>
          <a:ext cx="5577840" cy="4023360"/>
        </p:xfrm>
        <a:graphic xmlns:a="http://schemas.openxmlformats.org/drawingml/2006/main">
          <a:graphicData uri="http://schemas.openxmlformats.org/drawingml/2006/chart">
            <c:chart xmlns:c="http://schemas.openxmlformats.org/drawingml/2006/chart" r:id="rId2"/>
          </a:graphicData>
        </a:graphic>
      </p:graphicFrame>
      <p:sp>
        <p:nvSpPr>
          <p:cNvPr id="6" name="recall-takeaway"/>
          <p:cNvSpPr/>
          <p:nvPr/>
        </p:nvSpPr>
        <p:spPr>
          <a:xfrm>
            <a:off x="548640" y="5486400"/>
            <a:ext cx="11064240" cy="685800"/>
          </a:xfrm>
          <a:prstGeom prst="roundRect">
            <a:avLst>
              <a:gd name="adj" fmla="val 10667"/>
            </a:avLst>
          </a:prstGeom>
          <a:solidFill>
            <a:srgbClr val="EAF2FC"/>
          </a:solidFill>
          <a:ln w="12700">
            <a:solidFill>
              <a:srgbClr val="EAF2FC"/>
            </a:solidFill>
            <a:prstDash val="solid"/>
          </a:ln>
        </p:spPr>
      </p:sp>
      <p:sp>
        <p:nvSpPr>
          <p:cNvPr id="7" name="Text 2"/>
          <p:cNvSpPr txBox="1"/>
          <p:nvPr/>
        </p:nvSpPr>
        <p:spPr>
          <a:xfrm>
            <a:off x="822960" y="5486400"/>
            <a:ext cx="10607040" cy="685800"/>
          </a:xfrm>
          <a:prstGeom prst="rect">
            <a:avLst/>
          </a:prstGeom>
          <a:noFill/>
          <a:ln/>
        </p:spPr>
        <p:txBody>
          <a:bodyPr wrap="square" lIns="0" tIns="0" rIns="0" bIns="0" rtlCol="0" anchor="ctr"/>
          <a:lstStyle/>
          <a:p>
            <a:pPr indent="0" marL="0">
              <a:buNone/>
            </a:pPr>
            <a:r>
              <a:rPr lang="en-US" sz="1800" b="1" dirty="0">
                <a:solidFill>
                  <a:schemeClr val="accent1"/>
                </a:solidFill>
              </a:rPr>
              <a:t>+0.27 </a:t>
            </a:r>
            <a:pPr indent="0" marL="0">
              <a:buNone/>
            </a:pPr>
            <a:r>
              <a:rPr lang="en-US" sz="1800" dirty="0">
                <a:solidFill>
                  <a:schemeClr val="tx1"/>
                </a:solidFill>
              </a:rPr>
              <a:t>recall over SeCom at 2K (p &lt; 0.001)      </a:t>
            </a:r>
            <a:pPr indent="0" marL="0">
              <a:buNone/>
            </a:pPr>
            <a:r>
              <a:rPr lang="en-US" sz="1800" b="1" dirty="0">
                <a:solidFill>
                  <a:schemeClr val="accent1"/>
                </a:solidFill>
              </a:rPr>
              <a:t>+0.057 </a:t>
            </a:r>
            <a:pPr indent="0" marL="0">
              <a:buNone/>
            </a:pPr>
            <a:r>
              <a:rPr lang="en-US" sz="1800" dirty="0">
                <a:solidFill>
                  <a:schemeClr val="tx1"/>
                </a:solidFill>
              </a:rPr>
              <a:t>over turn-level hybrid at 4K (p &lt; 0.001)</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Answer quality: best F1 at 2K, smallest drop at 4K</a:t>
            </a:r>
            <a:endParaRPr lang="en-US" sz="3000" dirty="0"/>
          </a:p>
        </p:txBody>
      </p:sp>
      <p:graphicFrame>
        <p:nvGraphicFramePr>
          <p:cNvPr id="4" name="Chart 0" descr=""/>
          <p:cNvGraphicFramePr/>
          <p:nvPr/>
        </p:nvGraphicFramePr>
        <p:xfrm>
          <a:off x="457200" y="1325880"/>
          <a:ext cx="603504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675120" y="1325880"/>
          <a:ext cx="5029200" cy="4023360"/>
        </p:xfrm>
        <a:graphic xmlns:a="http://schemas.openxmlformats.org/drawingml/2006/main">
          <a:graphicData uri="http://schemas.openxmlformats.org/drawingml/2006/chart">
            <c:chart xmlns:c="http://schemas.openxmlformats.org/drawingml/2006/chart" r:id="rId2"/>
          </a:graphicData>
        </a:graphic>
      </p:graphicFrame>
      <p:sp>
        <p:nvSpPr>
          <p:cNvPr id="6" name="qa-takeaway"/>
          <p:cNvSpPr/>
          <p:nvPr/>
        </p:nvSpPr>
        <p:spPr>
          <a:xfrm>
            <a:off x="548640" y="5486400"/>
            <a:ext cx="11064240" cy="685800"/>
          </a:xfrm>
          <a:prstGeom prst="roundRect">
            <a:avLst>
              <a:gd name="adj" fmla="val 10667"/>
            </a:avLst>
          </a:prstGeom>
          <a:solidFill>
            <a:srgbClr val="EAF2FC"/>
          </a:solidFill>
          <a:ln w="12700">
            <a:solidFill>
              <a:srgbClr val="EAF2FC"/>
            </a:solidFill>
            <a:prstDash val="solid"/>
          </a:ln>
        </p:spPr>
      </p:sp>
      <p:sp>
        <p:nvSpPr>
          <p:cNvPr id="7" name="Text 2"/>
          <p:cNvSpPr txBox="1"/>
          <p:nvPr/>
        </p:nvSpPr>
        <p:spPr>
          <a:xfrm>
            <a:off x="822960" y="5486400"/>
            <a:ext cx="10607040" cy="685800"/>
          </a:xfrm>
          <a:prstGeom prst="rect">
            <a:avLst/>
          </a:prstGeom>
          <a:noFill/>
          <a:ln/>
        </p:spPr>
        <p:txBody>
          <a:bodyPr wrap="square" lIns="0" tIns="0" rIns="0" bIns="0" rtlCol="0" anchor="ctr"/>
          <a:lstStyle/>
          <a:p>
            <a:pPr indent="0" marL="0">
              <a:buNone/>
            </a:pPr>
            <a:r>
              <a:rPr lang="en-US" sz="1800" b="1" dirty="0">
                <a:solidFill>
                  <a:schemeClr val="accent1"/>
                </a:solidFill>
              </a:rPr>
              <a:t>+0.099 F1 </a:t>
            </a:r>
            <a:pPr indent="0" marL="0">
              <a:buNone/>
            </a:pPr>
            <a:r>
              <a:rPr lang="en-US" sz="1800" dirty="0">
                <a:solidFill>
                  <a:schemeClr val="tx1"/>
                </a:solidFill>
              </a:rPr>
              <a:t>over SeCom at 2K (+37%, p &lt; 0.001)      </a:t>
            </a:r>
            <a:pPr indent="0" marL="0">
              <a:buNone/>
            </a:pPr>
            <a:r>
              <a:rPr lang="en-US" sz="1800" b="1" dirty="0">
                <a:solidFill>
                  <a:schemeClr val="accent1"/>
                </a:solidFill>
              </a:rPr>
              <a:t>+0.052 F1 </a:t>
            </a:r>
            <a:pPr indent="0" marL="0">
              <a:buNone/>
            </a:pPr>
            <a:r>
              <a:rPr lang="en-US" sz="1800" dirty="0">
                <a:solidFill>
                  <a:schemeClr val="tx1"/>
                </a:solidFill>
              </a:rPr>
              <a:t>over turn-level hybrid at 4K (p = 0.02)</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badge"/>
          <p:cNvSpPr/>
          <p:nvPr/>
        </p:nvSpPr>
        <p:spPr>
          <a:xfrm>
            <a:off x="731520" y="265176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651760"/>
            <a:ext cx="1097280" cy="109728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4</a:t>
            </a:r>
            <a:endParaRPr lang="en-US" sz="3600" dirty="0"/>
          </a:p>
        </p:txBody>
      </p:sp>
      <p:sp>
        <p:nvSpPr>
          <p:cNvPr id="4" name="Text 0"/>
          <p:cNvSpPr/>
          <p:nvPr>
            <p:ph idx="100" type="title" hasCustomPrompt="1"/>
          </p:nvPr>
        </p:nvSpPr>
        <p:spPr>
          <a:xfrm>
            <a:off x="2194560" y="265176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rPr>
              <a:t>Comparisons</a:t>
            </a:r>
            <a:endParaRPr lang="en-US" sz="4000" dirty="0"/>
          </a:p>
        </p:txBody>
      </p:sp>
      <p:sp>
        <p:nvSpPr>
          <p:cNvPr id="5" name="Text 0"/>
          <p:cNvSpPr/>
          <p:nvPr>
            <p:ph idx="101" type="body" hasCustomPrompt="1"/>
          </p:nvPr>
        </p:nvSpPr>
        <p:spPr>
          <a:xfrm>
            <a:off x="2194560" y="3566160"/>
            <a:ext cx="9144000" cy="731520"/>
          </a:xfrm>
          <a:prstGeom prst="rect">
            <a:avLst/>
          </a:prstGeom>
          <a:noFill/>
          <a:ln/>
        </p:spPr>
        <p:txBody>
          <a:bodyPr wrap="square" lIns="0" tIns="0" rIns="0" bIns="0" rtlCol="0" anchor="t"/>
          <a:lstStyle/>
          <a:p>
            <a:pPr indent="0" marL="0">
              <a:buNone/>
            </a:pPr>
            <a:r>
              <a:rPr lang="en-US" sz="2000" dirty="0">
                <a:solidFill>
                  <a:schemeClr val="bg2"/>
                </a:solidFill>
              </a:rPr>
              <a:t>Against SeCom and turn-level retrieval, and what drives the gain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Head-to-head with SeCom (ICLR 2025)</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423160"/>
                <a:gridCol w="3291840"/>
                <a:gridCol w="960120"/>
                <a:gridCol w="822960"/>
                <a:gridCol w="960120"/>
                <a:gridCol w="822960"/>
                <a:gridCol w="1783080"/>
              </a:tblGrid>
              <a:tr h="566928">
                <a:tc>
                  <a:txBody>
                    <a:bodyPr/>
                    <a:lstStyle/>
                    <a:p>
                      <a:pPr indent="0" marL="0">
                        <a:buNone/>
                      </a:pPr>
                      <a:r>
                        <a:rPr lang="en-US" sz="1500" b="1" dirty="0">
                          <a:solidFill>
                            <a:schemeClr val="bg1"/>
                          </a:solidFill>
                        </a:rPr>
                        <a:t>Memory</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indent="0" marL="0">
                        <a:buNone/>
                      </a:pPr>
                      <a:r>
                        <a:rPr lang="en-US" sz="1500" b="1" dirty="0">
                          <a:solidFill>
                            <a:schemeClr val="bg1"/>
                          </a:solidFill>
                        </a:rPr>
                        <a:t>Unit · keys · retriever</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Recall 2K</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F1 2K</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Recall 4K</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F1 4K</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LLM calls to build</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SeCom (faithful)</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segment · LLMLingua-2 · BM25</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0.641</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0.270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0.782</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0.260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1 per session</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SeCom (MPNet)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segment · LLMLingua-2 · MPNet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0.610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0.253</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0.741</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1 per session</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SeCom + our retriever</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segment · LLMLingua-2 · BM25+MiniLM</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0.669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0.267</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0.819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1 per session</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Round-level (LongMemEval)</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exchange · raw · BM25+MiniLM</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0.814</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0.329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0.891</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Turn-level hybrid</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indent="0" marL="0">
                        <a:buNone/>
                      </a:pPr>
                      <a:r>
                        <a:rPr lang="en-US" sz="1500" dirty="0">
                          <a:solidFill>
                            <a:schemeClr val="tx1"/>
                          </a:solidFill>
                        </a:rPr>
                        <a:t>turn · raw · BM25+MiniLM</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0.859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0.351</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0.912</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0.258</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b="1" dirty="0">
                          <a:solidFill>
                            <a:schemeClr val="accent1"/>
                          </a:solidFill>
                        </a:rPr>
                        <a:t>ΔContext-R (ours)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indent="0" marL="0">
                        <a:buNone/>
                      </a:pPr>
                      <a:r>
                        <a:rPr lang="en-US" sz="1500" b="1" dirty="0">
                          <a:solidFill>
                            <a:schemeClr val="accent1"/>
                          </a:solidFill>
                        </a:rPr>
                        <a:t>turn+topic · raw · BM25+MiniLM</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algn="ctr" indent="0" marL="0">
                        <a:buNone/>
                      </a:pPr>
                      <a:r>
                        <a:rPr lang="en-US" sz="1500" b="1" dirty="0">
                          <a:solidFill>
                            <a:schemeClr val="accent1"/>
                          </a:solidFill>
                        </a:rPr>
                        <a:t>0.908</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algn="ctr" indent="0" marL="0">
                        <a:buNone/>
                      </a:pPr>
                      <a:r>
                        <a:rPr lang="en-US" sz="1500" b="1" dirty="0">
                          <a:solidFill>
                            <a:schemeClr val="accent1"/>
                          </a:solidFill>
                        </a:rPr>
                        <a:t>0.369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algn="ctr" indent="0" marL="0">
                        <a:buNone/>
                      </a:pPr>
                      <a:r>
                        <a:rPr lang="en-US" sz="1500" b="1" dirty="0">
                          <a:solidFill>
                            <a:schemeClr val="accent1"/>
                          </a:solidFill>
                        </a:rPr>
                        <a:t>0.969</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algn="ctr" indent="0" marL="0">
                        <a:buNone/>
                      </a:pPr>
                      <a:r>
                        <a:rPr lang="en-US" sz="1500" b="1" dirty="0">
                          <a:solidFill>
                            <a:schemeClr val="accent1"/>
                          </a:solidFill>
                        </a:rPr>
                        <a:t>0.310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c>
                  <a:txBody>
                    <a:bodyPr/>
                    <a:lstStyle/>
                    <a:p>
                      <a:pPr algn="ctr" indent="0" marL="0">
                        <a:buNone/>
                      </a:pPr>
                      <a:r>
                        <a:rPr lang="en-US" sz="1500" b="1" dirty="0">
                          <a:solidFill>
                            <a:schemeClr val="accent1"/>
                          </a:solidFill>
                        </a:rPr>
                        <a:t>0</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rgbClr val="EAF2FC"/>
                    </a:solidFill>
                  </a:tcPr>
                </a:tc>
              </a:tr>
            </a:tbl>
          </a:graphicData>
        </a:graphic>
      </p:graphicFrame>
      <p:sp>
        <p:nvSpPr>
          <p:cNvPr id="5" name="Text 1"/>
          <p:cNvSpPr txBox="1"/>
          <p:nvPr/>
        </p:nvSpPr>
        <p:spPr>
          <a:xfrm>
            <a:off x="548640" y="5532120"/>
            <a:ext cx="11064240" cy="365760"/>
          </a:xfrm>
          <a:prstGeom prst="rect">
            <a:avLst/>
          </a:prstGeom>
          <a:noFill/>
          <a:ln/>
        </p:spPr>
        <p:txBody>
          <a:bodyPr wrap="square" lIns="0" tIns="0" rIns="0" bIns="0" rtlCol="0" anchor="t"/>
          <a:lstStyle/>
          <a:p>
            <a:pPr indent="0" marL="0">
              <a:buNone/>
            </a:pPr>
            <a:r>
              <a:rPr lang="en-US" sz="1200" i="1" dirty="0">
                <a:solidFill>
                  <a:schemeClr val="accent6"/>
                </a:solidFill>
              </a:rPr>
              <a:t>237 answerable LongMemEval-S test questions; Qwen2.5-3B reader; – = not run. Significance tests in the paper.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Why segment memory loses: units outgrow the budget</a:t>
            </a:r>
            <a:endParaRPr lang="en-US" sz="3000" dirty="0"/>
          </a:p>
        </p:txBody>
      </p:sp>
      <p:pic>
        <p:nvPicPr>
          <p:cNvPr id="4" name="Image 0" descr="Heatmap of dev evidence recall by memory unit and retriever, raw versus LLMLingua-2 keys">    </p:cNvPr>
          <p:cNvPicPr>
            <a:picLocks noChangeAspect="1"/>
          </p:cNvPicPr>
          <p:nvPr/>
        </p:nvPicPr>
        <p:blipFill>
          <a:blip r:embed="rId1"/>
          <a:stretch>
            <a:fillRect/>
          </a:stretch>
        </p:blipFill>
        <p:spPr>
          <a:xfrm>
            <a:off x="457200" y="1417320"/>
            <a:ext cx="7498080" cy="2249424"/>
          </a:xfrm>
          <a:prstGeom prst="rect">
            <a:avLst/>
          </a:prstGeom>
        </p:spPr>
      </p:pic>
      <p:sp>
        <p:nvSpPr>
          <p:cNvPr id="5" name="Text 1"/>
          <p:cNvSpPr txBox="1"/>
          <p:nvPr/>
        </p:nvSpPr>
        <p:spPr>
          <a:xfrm>
            <a:off x="548640" y="3749040"/>
            <a:ext cx="7315200" cy="548640"/>
          </a:xfrm>
          <a:prstGeom prst="rect">
            <a:avLst/>
          </a:prstGeom>
          <a:noFill/>
          <a:ln/>
        </p:spPr>
        <p:txBody>
          <a:bodyPr wrap="square" lIns="0" tIns="0" rIns="0" bIns="0" rtlCol="0" anchor="t"/>
          <a:lstStyle/>
          <a:p>
            <a:pPr indent="0" marL="0">
              <a:buNone/>
            </a:pPr>
            <a:r>
              <a:rPr lang="en-US" sz="1200" i="1" dirty="0">
                <a:solidFill>
                  <a:schemeClr val="accent6"/>
                </a:solidFill>
              </a:rPr>
              <a:t>Dev evidence recall at 2,048 tokens when whole units are retrieved: (a) raw keys, (b) SeCom's LLMLingua-2 keys.</a:t>
            </a:r>
            <a:endParaRPr lang="en-US" sz="1200" dirty="0"/>
          </a:p>
        </p:txBody>
      </p:sp>
      <p:sp>
        <p:nvSpPr>
          <p:cNvPr id="6" name="badge-1"/>
          <p:cNvSpPr/>
          <p:nvPr/>
        </p:nvSpPr>
        <p:spPr>
          <a:xfrm>
            <a:off x="8229600" y="1463040"/>
            <a:ext cx="457200" cy="457200"/>
          </a:xfrm>
          <a:prstGeom prst="ellipse">
            <a:avLst/>
          </a:prstGeom>
          <a:solidFill>
            <a:schemeClr val="accent2"/>
          </a:solidFill>
          <a:ln w="12700">
            <a:solidFill>
              <a:schemeClr val="accent2"/>
            </a:solidFill>
            <a:prstDash val="solid"/>
          </a:ln>
        </p:spPr>
      </p:sp>
      <p:sp>
        <p:nvSpPr>
          <p:cNvPr id="7" name="Text 3"/>
          <p:cNvSpPr txBox="1"/>
          <p:nvPr/>
        </p:nvSpPr>
        <p:spPr>
          <a:xfrm>
            <a:off x="8229600" y="1463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4"/>
          <p:cNvSpPr txBox="1"/>
          <p:nvPr/>
        </p:nvSpPr>
        <p:spPr>
          <a:xfrm>
            <a:off x="8823960" y="1417320"/>
            <a:ext cx="2880360" cy="365760"/>
          </a:xfrm>
          <a:prstGeom prst="rect">
            <a:avLst/>
          </a:prstGeom>
          <a:noFill/>
          <a:ln/>
        </p:spPr>
        <p:txBody>
          <a:bodyPr wrap="square" lIns="0" tIns="0" rIns="0" bIns="0" rtlCol="0" anchor="t"/>
          <a:lstStyle/>
          <a:p>
            <a:pPr indent="0" marL="0">
              <a:buNone/>
            </a:pPr>
            <a:r>
              <a:rPr lang="en-US" sz="1600" b="1" dirty="0">
                <a:solidFill>
                  <a:schemeClr val="tx1"/>
                </a:solidFill>
              </a:rPr>
              <a:t>Recall falls as units grow</a:t>
            </a:r>
            <a:endParaRPr lang="en-US" sz="1600" dirty="0"/>
          </a:p>
        </p:txBody>
      </p:sp>
      <p:sp>
        <p:nvSpPr>
          <p:cNvPr id="9" name="Text 5"/>
          <p:cNvSpPr txBox="1"/>
          <p:nvPr/>
        </p:nvSpPr>
        <p:spPr>
          <a:xfrm>
            <a:off x="8823960" y="1801368"/>
            <a:ext cx="2880360" cy="731520"/>
          </a:xfrm>
          <a:prstGeom prst="rect">
            <a:avLst/>
          </a:prstGeom>
          <a:noFill/>
          <a:ln/>
        </p:spPr>
        <p:txBody>
          <a:bodyPr wrap="square" lIns="0" tIns="0" rIns="0" bIns="0" rtlCol="0" anchor="t"/>
          <a:lstStyle/>
          <a:p>
            <a:pPr indent="0" marL="0">
              <a:buNone/>
            </a:pPr>
            <a:r>
              <a:rPr lang="en-US" sz="1400" dirty="0">
                <a:solidFill>
                  <a:schemeClr val="tx2"/>
                </a:solidFill>
              </a:rPr>
              <a:t>with every retriever: turns 0.66–0.82, topics and sessions 0.48–0.60</a:t>
            </a:r>
            <a:endParaRPr lang="en-US" sz="1400" dirty="0"/>
          </a:p>
        </p:txBody>
      </p:sp>
      <p:sp>
        <p:nvSpPr>
          <p:cNvPr id="10" name="badge-2"/>
          <p:cNvSpPr/>
          <p:nvPr/>
        </p:nvSpPr>
        <p:spPr>
          <a:xfrm>
            <a:off x="8229600" y="2606040"/>
            <a:ext cx="457200" cy="457200"/>
          </a:xfrm>
          <a:prstGeom prst="ellipse">
            <a:avLst/>
          </a:prstGeom>
          <a:solidFill>
            <a:schemeClr val="accent2"/>
          </a:solidFill>
          <a:ln w="12700">
            <a:solidFill>
              <a:schemeClr val="accent2"/>
            </a:solidFill>
            <a:prstDash val="solid"/>
          </a:ln>
        </p:spPr>
      </p:sp>
      <p:sp>
        <p:nvSpPr>
          <p:cNvPr id="11" name="Text 7"/>
          <p:cNvSpPr txBox="1"/>
          <p:nvPr/>
        </p:nvSpPr>
        <p:spPr>
          <a:xfrm>
            <a:off x="8229600" y="2606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8"/>
          <p:cNvSpPr txBox="1"/>
          <p:nvPr/>
        </p:nvSpPr>
        <p:spPr>
          <a:xfrm>
            <a:off x="8823960" y="2560320"/>
            <a:ext cx="2880360" cy="365760"/>
          </a:xfrm>
          <a:prstGeom prst="rect">
            <a:avLst/>
          </a:prstGeom>
          <a:noFill/>
          <a:ln/>
        </p:spPr>
        <p:txBody>
          <a:bodyPr wrap="square" lIns="0" tIns="0" rIns="0" bIns="0" rtlCol="0" anchor="t"/>
          <a:lstStyle/>
          <a:p>
            <a:pPr indent="0" marL="0">
              <a:buNone/>
            </a:pPr>
            <a:r>
              <a:rPr lang="en-US" sz="1600" b="1" dirty="0">
                <a:solidFill>
                  <a:schemeClr val="tx1"/>
                </a:solidFill>
              </a:rPr>
              <a:t>Sessions barely fit 2K</a:t>
            </a:r>
            <a:endParaRPr lang="en-US" sz="1600" dirty="0"/>
          </a:p>
        </p:txBody>
      </p:sp>
      <p:sp>
        <p:nvSpPr>
          <p:cNvPr id="13" name="Text 9"/>
          <p:cNvSpPr txBox="1"/>
          <p:nvPr/>
        </p:nvSpPr>
        <p:spPr>
          <a:xfrm>
            <a:off x="8823960" y="2944368"/>
            <a:ext cx="2880360" cy="731520"/>
          </a:xfrm>
          <a:prstGeom prst="rect">
            <a:avLst/>
          </a:prstGeom>
          <a:noFill/>
          <a:ln/>
        </p:spPr>
        <p:txBody>
          <a:bodyPr wrap="square" lIns="0" tIns="0" rIns="0" bIns="0" rtlCol="0" anchor="t"/>
          <a:lstStyle/>
          <a:p>
            <a:pPr indent="0" marL="0">
              <a:buNone/>
            </a:pPr>
            <a:r>
              <a:rPr lang="en-US" sz="1400" dirty="0">
                <a:solidFill>
                  <a:schemeClr val="tx2"/>
                </a:solidFill>
              </a:rPr>
              <a:t>~2,300 tokens each, mostly assistant text: one or two fit the budget</a:t>
            </a:r>
            <a:endParaRPr lang="en-US" sz="1400" dirty="0"/>
          </a:p>
        </p:txBody>
      </p:sp>
      <p:sp>
        <p:nvSpPr>
          <p:cNvPr id="14" name="badge-3"/>
          <p:cNvSpPr/>
          <p:nvPr/>
        </p:nvSpPr>
        <p:spPr>
          <a:xfrm>
            <a:off x="8229600" y="3749040"/>
            <a:ext cx="457200" cy="457200"/>
          </a:xfrm>
          <a:prstGeom prst="ellipse">
            <a:avLst/>
          </a:prstGeom>
          <a:solidFill>
            <a:schemeClr val="accent2"/>
          </a:solidFill>
          <a:ln w="12700">
            <a:solidFill>
              <a:schemeClr val="accent2"/>
            </a:solidFill>
            <a:prstDash val="solid"/>
          </a:ln>
        </p:spPr>
      </p:sp>
      <p:sp>
        <p:nvSpPr>
          <p:cNvPr id="15" name="Text 11"/>
          <p:cNvSpPr txBox="1"/>
          <p:nvPr/>
        </p:nvSpPr>
        <p:spPr>
          <a:xfrm>
            <a:off x="8229600"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2"/>
          <p:cNvSpPr txBox="1"/>
          <p:nvPr/>
        </p:nvSpPr>
        <p:spPr>
          <a:xfrm>
            <a:off x="8823960" y="3703320"/>
            <a:ext cx="2880360" cy="365760"/>
          </a:xfrm>
          <a:prstGeom prst="rect">
            <a:avLst/>
          </a:prstGeom>
          <a:noFill/>
          <a:ln/>
        </p:spPr>
        <p:txBody>
          <a:bodyPr wrap="square" lIns="0" tIns="0" rIns="0" bIns="0" rtlCol="0" anchor="t"/>
          <a:lstStyle/>
          <a:p>
            <a:pPr indent="0" marL="0">
              <a:buNone/>
            </a:pPr>
            <a:r>
              <a:rPr lang="en-US" sz="1600" b="1" dirty="0">
                <a:solidFill>
                  <a:schemeClr val="tx1"/>
                </a:solidFill>
              </a:rPr>
              <a:t>Compression helps MPNet</a:t>
            </a:r>
            <a:endParaRPr lang="en-US" sz="1600" dirty="0"/>
          </a:p>
        </p:txBody>
      </p:sp>
      <p:sp>
        <p:nvSpPr>
          <p:cNvPr id="17" name="Text 13"/>
          <p:cNvSpPr txBox="1"/>
          <p:nvPr/>
        </p:nvSpPr>
        <p:spPr>
          <a:xfrm>
            <a:off x="8823960" y="4087368"/>
            <a:ext cx="2880360" cy="731520"/>
          </a:xfrm>
          <a:prstGeom prst="rect">
            <a:avLst/>
          </a:prstGeom>
          <a:noFill/>
          <a:ln/>
        </p:spPr>
        <p:txBody>
          <a:bodyPr wrap="square" lIns="0" tIns="0" rIns="0" bIns="0" rtlCol="0" anchor="t"/>
          <a:lstStyle/>
          <a:p>
            <a:pPr indent="0" marL="0">
              <a:buNone/>
            </a:pPr>
            <a:r>
              <a:rPr lang="en-US" sz="1400" dirty="0">
                <a:solidFill>
                  <a:schemeClr val="tx2"/>
                </a:solidFill>
              </a:rPr>
              <a:t>turns 0.67 → 0.75 with LLMLingua-2, but the gap remains</a:t>
            </a:r>
            <a:endParaRPr lang="en-US" sz="1400" dirty="0"/>
          </a:p>
        </p:txBody>
      </p:sp>
      <p:sp>
        <p:nvSpPr>
          <p:cNvPr id="18" name="badge-4"/>
          <p:cNvSpPr/>
          <p:nvPr/>
        </p:nvSpPr>
        <p:spPr>
          <a:xfrm>
            <a:off x="8229600" y="4892040"/>
            <a:ext cx="457200" cy="457200"/>
          </a:xfrm>
          <a:prstGeom prst="ellipse">
            <a:avLst/>
          </a:prstGeom>
          <a:solidFill>
            <a:schemeClr val="accent2"/>
          </a:solidFill>
          <a:ln w="12700">
            <a:solidFill>
              <a:schemeClr val="accent2"/>
            </a:solidFill>
            <a:prstDash val="solid"/>
          </a:ln>
        </p:spPr>
      </p:sp>
      <p:sp>
        <p:nvSpPr>
          <p:cNvPr id="19" name="Text 15"/>
          <p:cNvSpPr txBox="1"/>
          <p:nvPr/>
        </p:nvSpPr>
        <p:spPr>
          <a:xfrm>
            <a:off x="8229600" y="4892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6"/>
          <p:cNvSpPr txBox="1"/>
          <p:nvPr/>
        </p:nvSpPr>
        <p:spPr>
          <a:xfrm>
            <a:off x="8823960" y="4846320"/>
            <a:ext cx="2880360" cy="365760"/>
          </a:xfrm>
          <a:prstGeom prst="rect">
            <a:avLst/>
          </a:prstGeom>
          <a:noFill/>
          <a:ln/>
        </p:spPr>
        <p:txBody>
          <a:bodyPr wrap="square" lIns="0" tIns="0" rIns="0" bIns="0" rtlCol="0" anchor="t"/>
          <a:lstStyle/>
          <a:p>
            <a:pPr indent="0" marL="0">
              <a:buNone/>
            </a:pPr>
            <a:r>
              <a:rPr lang="en-US" sz="1600" b="1" dirty="0">
                <a:solidFill>
                  <a:schemeClr val="tx1"/>
                </a:solidFill>
              </a:rPr>
              <a:t>Finer segments won't save it</a:t>
            </a:r>
            <a:endParaRPr lang="en-US" sz="1600" dirty="0"/>
          </a:p>
        </p:txBody>
      </p:sp>
      <p:sp>
        <p:nvSpPr>
          <p:cNvPr id="21" name="Text 17"/>
          <p:cNvSpPr txBox="1"/>
          <p:nvPr/>
        </p:nvSpPr>
        <p:spPr>
          <a:xfrm>
            <a:off x="8823960" y="5230368"/>
            <a:ext cx="2880360" cy="731520"/>
          </a:xfrm>
          <a:prstGeom prst="rect">
            <a:avLst/>
          </a:prstGeom>
          <a:noFill/>
          <a:ln/>
        </p:spPr>
        <p:txBody>
          <a:bodyPr wrap="square" lIns="0" tIns="0" rIns="0" bIns="0" rtlCol="0" anchor="t"/>
          <a:lstStyle/>
          <a:p>
            <a:pPr indent="0" marL="0">
              <a:buNone/>
            </a:pPr>
            <a:r>
              <a:rPr lang="en-US" sz="1400" dirty="0">
                <a:solidFill>
                  <a:schemeClr val="tx2"/>
                </a:solidFill>
              </a:rPr>
              <a:t>exchanges, the finest units, reach 0.814 on test vs 0.908</a:t>
            </a:r>
            <a:endParaRPr lang="en-US" sz="1400" dirty="0"/>
          </a:p>
        </p:txBody>
      </p:sp>
      <p:sp>
        <p:nvSpPr>
          <p:cNvPr id="22" name="grid-takeaway"/>
          <p:cNvSpPr/>
          <p:nvPr/>
        </p:nvSpPr>
        <p:spPr>
          <a:xfrm>
            <a:off x="548640" y="4572000"/>
            <a:ext cx="7315200" cy="1463040"/>
          </a:xfrm>
          <a:prstGeom prst="roundRect">
            <a:avLst>
              <a:gd name="adj" fmla="val 5000"/>
            </a:avLst>
          </a:prstGeom>
          <a:solidFill>
            <a:srgbClr val="EAF2FC"/>
          </a:solidFill>
          <a:ln w="12700">
            <a:solidFill>
              <a:srgbClr val="EAF2FC"/>
            </a:solidFill>
            <a:prstDash val="solid"/>
          </a:ln>
        </p:spPr>
      </p:sp>
      <p:sp>
        <p:nvSpPr>
          <p:cNvPr id="23" name="Text 19"/>
          <p:cNvSpPr txBox="1"/>
          <p:nvPr/>
        </p:nvSpPr>
        <p:spPr>
          <a:xfrm>
            <a:off x="822960" y="4572000"/>
            <a:ext cx="6766560" cy="1463040"/>
          </a:xfrm>
          <a:prstGeom prst="rect">
            <a:avLst/>
          </a:prstGeom>
          <a:noFill/>
          <a:ln/>
        </p:spPr>
        <p:txBody>
          <a:bodyPr wrap="square" lIns="0" tIns="0" rIns="0" bIns="0" rtlCol="0" anchor="ctr"/>
          <a:lstStyle/>
          <a:p>
            <a:pPr indent="0" marL="0">
              <a:buNone/>
            </a:pPr>
            <a:r>
              <a:rPr lang="en-US" sz="2000" b="1" dirty="0">
                <a:solidFill>
                  <a:schemeClr val="accent1"/>
                </a:solidFill>
              </a:rPr>
              <a:t>Under a small budget, the unit you retrieve matters more than how well you rank it.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Gains by question type: multi-session and preference</a:t>
            </a:r>
            <a:endParaRPr lang="en-US" sz="3000" dirty="0"/>
          </a:p>
        </p:txBody>
      </p:sp>
      <p:graphicFrame>
        <p:nvGraphicFramePr>
          <p:cNvPr id="4" name="Chart 0" descr=""/>
          <p:cNvGraphicFramePr/>
          <p:nvPr/>
        </p:nvGraphicFramePr>
        <p:xfrm>
          <a:off x="457200" y="1325880"/>
          <a:ext cx="7955280" cy="47548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778240" y="1463040"/>
            <a:ext cx="29260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0.869</a:t>
            </a:r>
            <a:endParaRPr lang="en-US" sz="4000" dirty="0"/>
          </a:p>
        </p:txBody>
      </p:sp>
      <p:sp>
        <p:nvSpPr>
          <p:cNvPr id="6" name="Text 2"/>
          <p:cNvSpPr txBox="1"/>
          <p:nvPr/>
        </p:nvSpPr>
        <p:spPr>
          <a:xfrm>
            <a:off x="8778240" y="2176272"/>
            <a:ext cx="2926080" cy="685800"/>
          </a:xfrm>
          <a:prstGeom prst="rect">
            <a:avLst/>
          </a:prstGeom>
          <a:noFill/>
          <a:ln/>
        </p:spPr>
        <p:txBody>
          <a:bodyPr wrap="square" lIns="0" tIns="0" rIns="0" bIns="0" rtlCol="0" anchor="t"/>
          <a:lstStyle/>
          <a:p>
            <a:pPr indent="0" marL="0">
              <a:buNone/>
            </a:pPr>
            <a:r>
              <a:rPr lang="en-US" sz="1500" dirty="0">
                <a:solidFill>
                  <a:schemeClr val="tx2"/>
                </a:solidFill>
              </a:rPr>
              <a:t>multi-session recall (turn-level 0.732, SeCom 0.387)</a:t>
            </a:r>
            <a:endParaRPr lang="en-US" sz="1500" dirty="0"/>
          </a:p>
        </p:txBody>
      </p:sp>
      <p:sp>
        <p:nvSpPr>
          <p:cNvPr id="7" name="Text 3"/>
          <p:cNvSpPr txBox="1"/>
          <p:nvPr/>
        </p:nvSpPr>
        <p:spPr>
          <a:xfrm>
            <a:off x="8778240" y="3017520"/>
            <a:ext cx="29260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1.000</a:t>
            </a:r>
            <a:endParaRPr lang="en-US" sz="4000" dirty="0"/>
          </a:p>
        </p:txBody>
      </p:sp>
      <p:sp>
        <p:nvSpPr>
          <p:cNvPr id="8" name="Text 4"/>
          <p:cNvSpPr txBox="1"/>
          <p:nvPr/>
        </p:nvSpPr>
        <p:spPr>
          <a:xfrm>
            <a:off x="8778240" y="3730752"/>
            <a:ext cx="2926080" cy="685800"/>
          </a:xfrm>
          <a:prstGeom prst="rect">
            <a:avLst/>
          </a:prstGeom>
          <a:noFill/>
          <a:ln/>
        </p:spPr>
        <p:txBody>
          <a:bodyPr wrap="square" lIns="0" tIns="0" rIns="0" bIns="0" rtlCol="0" anchor="t"/>
          <a:lstStyle/>
          <a:p>
            <a:pPr indent="0" marL="0">
              <a:buNone/>
            </a:pPr>
            <a:r>
              <a:rPr lang="en-US" sz="1500" dirty="0">
                <a:solidFill>
                  <a:schemeClr val="tx2"/>
                </a:solidFill>
              </a:rPr>
              <a:t>preference recall (turn-level 0.678, SeCom 0.567)</a:t>
            </a:r>
            <a:endParaRPr lang="en-US" sz="1500" dirty="0"/>
          </a:p>
        </p:txBody>
      </p:sp>
      <p:sp>
        <p:nvSpPr>
          <p:cNvPr id="9" name="Text 5"/>
          <p:cNvSpPr txBox="1"/>
          <p:nvPr/>
        </p:nvSpPr>
        <p:spPr>
          <a:xfrm>
            <a:off x="8778240" y="4572000"/>
            <a:ext cx="2926080" cy="68580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0.815</a:t>
            </a:r>
            <a:endParaRPr lang="en-US" sz="4000" dirty="0"/>
          </a:p>
        </p:txBody>
      </p:sp>
      <p:sp>
        <p:nvSpPr>
          <p:cNvPr id="10" name="Text 6"/>
          <p:cNvSpPr txBox="1"/>
          <p:nvPr/>
        </p:nvSpPr>
        <p:spPr>
          <a:xfrm>
            <a:off x="8778240" y="5285232"/>
            <a:ext cx="2926080" cy="685800"/>
          </a:xfrm>
          <a:prstGeom prst="rect">
            <a:avLst/>
          </a:prstGeom>
          <a:noFill/>
          <a:ln/>
        </p:spPr>
        <p:txBody>
          <a:bodyPr wrap="square" lIns="0" tIns="0" rIns="0" bIns="0" rtlCol="0" anchor="t"/>
          <a:lstStyle/>
          <a:p>
            <a:pPr indent="0" marL="0">
              <a:buNone/>
            </a:pPr>
            <a:r>
              <a:rPr lang="en-US" sz="1500" dirty="0">
                <a:solidFill>
                  <a:schemeClr val="tx2"/>
                </a:solidFill>
              </a:rPr>
              <a:t>assistant-evidence recall: the cost of reading the user (turn-level 0.889)</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Honest ablation: what really drives the gain</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4023360"/>
                <a:gridCol w="1463040"/>
                <a:gridCol w="1463040"/>
              </a:tblGrid>
              <a:tr h="566928">
                <a:tc>
                  <a:txBody>
                    <a:bodyPr/>
                    <a:lstStyle/>
                    <a:p>
                      <a:pPr indent="0" marL="0">
                        <a:buNone/>
                      </a:pPr>
                      <a:r>
                        <a:rPr lang="en-US" sz="1500" b="1" dirty="0">
                          <a:solidFill>
                            <a:schemeClr val="bg1"/>
                          </a:solidFill>
                        </a:rPr>
                        <a:t>Control (tuned on dev)</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Δ recall 2K</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Δ recall 4K</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tx1"/>
                    </a:solidFill>
                  </a:tcPr>
                </a:tc>
              </a:tr>
              <a:tr h="566928">
                <a:tc>
                  <a:txBody>
                    <a:bodyPr/>
                    <a:lstStyle/>
                    <a:p>
                      <a:pPr indent="0" marL="0">
                        <a:buNone/>
                      </a:pPr>
                      <a:r>
                        <a:rPr lang="en-US" sz="1500" dirty="0">
                          <a:solidFill>
                            <a:schemeClr val="tx1"/>
                          </a:solidFill>
                        </a:rPr>
                        <a:t>True sessions as topics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−0.004</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+0.007</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10-turn chunks as topics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+0.026</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+0.033 *</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Global user-turn prior (no topics)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−0.014</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+0.017</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Cost-aware fill (no topics, no roles)</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−0.015</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+0.015</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r h="566928">
                <a:tc>
                  <a:txBody>
                    <a:bodyPr/>
                    <a:lstStyle/>
                    <a:p>
                      <a:pPr indent="0" marL="0">
                        <a:buNone/>
                      </a:pPr>
                      <a:r>
                        <a:rPr lang="en-US" sz="1500" dirty="0">
                          <a:solidFill>
                            <a:schemeClr val="tx1"/>
                          </a:solidFill>
                        </a:rPr>
                        <a:t>Topic fusion without reading the user</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+0.045</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c>
                  <a:txBody>
                    <a:bodyPr/>
                    <a:lstStyle/>
                    <a:p>
                      <a:pPr algn="ctr" indent="0" marL="0">
                        <a:buNone/>
                      </a:pPr>
                      <a:r>
                        <a:rPr lang="en-US" sz="1500" dirty="0">
                          <a:solidFill>
                            <a:schemeClr val="tx1"/>
                          </a:solidFill>
                        </a:rPr>
                        <a:t>+0.063 *</a:t>
                      </a:r>
                      <a:endParaRPr lang="en-US" sz="1500" dirty="0"/>
                    </a:p>
                  </a:txBody>
                  <a:tcPr marL="73152" marR="73152"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tcPr>
                </a:tc>
              </a:tr>
            </a:tbl>
          </a:graphicData>
        </a:graphic>
      </p:graphicFrame>
      <p:sp>
        <p:nvSpPr>
          <p:cNvPr id="5" name="Text 1"/>
          <p:cNvSpPr txBox="1"/>
          <p:nvPr/>
        </p:nvSpPr>
        <p:spPr>
          <a:xfrm>
            <a:off x="548640" y="4892040"/>
            <a:ext cx="6949440" cy="548640"/>
          </a:xfrm>
          <a:prstGeom prst="rect">
            <a:avLst/>
          </a:prstGeom>
          <a:noFill/>
          <a:ln/>
        </p:spPr>
        <p:txBody>
          <a:bodyPr wrap="square" lIns="0" tIns="0" rIns="0" bIns="0" rtlCol="0" anchor="t"/>
          <a:lstStyle/>
          <a:p>
            <a:pPr indent="0" marL="0">
              <a:buNone/>
            </a:pPr>
            <a:r>
              <a:rPr lang="en-US" sz="1200" i="1" dirty="0">
                <a:solidFill>
                  <a:schemeClr val="accent6"/>
                </a:solidFill>
              </a:rPr>
              <a:t>Δ = ΔContext-R minus control, evidence recall on test. * significant (p &lt; 0.001, Holm); others not significant.</a:t>
            </a:r>
            <a:endParaRPr lang="en-US" sz="1200" dirty="0"/>
          </a:p>
        </p:txBody>
      </p:sp>
      <p:sp>
        <p:nvSpPr>
          <p:cNvPr id="6" name="take-0"/>
          <p:cNvSpPr/>
          <p:nvPr/>
        </p:nvSpPr>
        <p:spPr>
          <a:xfrm>
            <a:off x="7863840" y="1371600"/>
            <a:ext cx="3749040" cy="1188720"/>
          </a:xfrm>
          <a:prstGeom prst="roundRect">
            <a:avLst>
              <a:gd name="adj" fmla="val 6154"/>
            </a:avLst>
          </a:prstGeom>
          <a:solidFill>
            <a:schemeClr val="bg2"/>
          </a:solidFill>
          <a:ln w="12700">
            <a:solidFill>
              <a:schemeClr val="bg2"/>
            </a:solidFill>
            <a:prstDash val="solid"/>
          </a:ln>
        </p:spPr>
      </p:sp>
      <p:sp>
        <p:nvSpPr>
          <p:cNvPr id="7" name="badge-1"/>
          <p:cNvSpPr/>
          <p:nvPr/>
        </p:nvSpPr>
        <p:spPr>
          <a:xfrm>
            <a:off x="8092440" y="1719072"/>
            <a:ext cx="502920" cy="502920"/>
          </a:xfrm>
          <a:prstGeom prst="ellipse">
            <a:avLst/>
          </a:prstGeom>
          <a:solidFill>
            <a:schemeClr val="accent1"/>
          </a:solidFill>
          <a:ln w="12700">
            <a:solidFill>
              <a:schemeClr val="accent1"/>
            </a:solidFill>
            <a:prstDash val="solid"/>
          </a:ln>
        </p:spPr>
      </p:sp>
      <p:sp>
        <p:nvSpPr>
          <p:cNvPr id="8" name="Text 4"/>
          <p:cNvSpPr txBox="1"/>
          <p:nvPr/>
        </p:nvSpPr>
        <p:spPr>
          <a:xfrm>
            <a:off x="8092440" y="171907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 5"/>
          <p:cNvSpPr txBox="1"/>
          <p:nvPr/>
        </p:nvSpPr>
        <p:spPr>
          <a:xfrm>
            <a:off x="8778240" y="1371600"/>
            <a:ext cx="2697480" cy="1188720"/>
          </a:xfrm>
          <a:prstGeom prst="rect">
            <a:avLst/>
          </a:prstGeom>
          <a:noFill/>
          <a:ln/>
        </p:spPr>
        <p:txBody>
          <a:bodyPr wrap="square" lIns="0" tIns="0" rIns="0" bIns="0" rtlCol="0" anchor="ctr"/>
          <a:lstStyle/>
          <a:p>
            <a:pPr indent="0" marL="0">
              <a:buNone/>
            </a:pPr>
            <a:r>
              <a:rPr lang="en-US" sz="1600" b="1" dirty="0">
                <a:solidFill>
                  <a:schemeClr val="tx1"/>
                </a:solidFill>
              </a:rPr>
              <a:t>Budget-aware reading of user turns drives the gain</a:t>
            </a:r>
            <a:endParaRPr lang="en-US" sz="1600" dirty="0"/>
          </a:p>
        </p:txBody>
      </p:sp>
      <p:sp>
        <p:nvSpPr>
          <p:cNvPr id="10" name="take-1"/>
          <p:cNvSpPr/>
          <p:nvPr/>
        </p:nvSpPr>
        <p:spPr>
          <a:xfrm>
            <a:off x="7863840" y="2788920"/>
            <a:ext cx="3749040" cy="1188720"/>
          </a:xfrm>
          <a:prstGeom prst="roundRect">
            <a:avLst>
              <a:gd name="adj" fmla="val 6154"/>
            </a:avLst>
          </a:prstGeom>
          <a:solidFill>
            <a:schemeClr val="bg2"/>
          </a:solidFill>
          <a:ln w="12700">
            <a:solidFill>
              <a:schemeClr val="bg2"/>
            </a:solidFill>
            <a:prstDash val="solid"/>
          </a:ln>
        </p:spPr>
      </p:sp>
      <p:sp>
        <p:nvSpPr>
          <p:cNvPr id="11" name="badge-2"/>
          <p:cNvSpPr/>
          <p:nvPr/>
        </p:nvSpPr>
        <p:spPr>
          <a:xfrm>
            <a:off x="8092440" y="3136392"/>
            <a:ext cx="502920" cy="502920"/>
          </a:xfrm>
          <a:prstGeom prst="ellipse">
            <a:avLst/>
          </a:prstGeom>
          <a:solidFill>
            <a:schemeClr val="accent3"/>
          </a:solidFill>
          <a:ln w="12700">
            <a:solidFill>
              <a:schemeClr val="accent3"/>
            </a:solidFill>
            <a:prstDash val="solid"/>
          </a:ln>
        </p:spPr>
      </p:sp>
      <p:sp>
        <p:nvSpPr>
          <p:cNvPr id="12" name="Text 8"/>
          <p:cNvSpPr txBox="1"/>
          <p:nvPr/>
        </p:nvSpPr>
        <p:spPr>
          <a:xfrm>
            <a:off x="8092440" y="313639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3" name="Text 9"/>
          <p:cNvSpPr txBox="1"/>
          <p:nvPr/>
        </p:nvSpPr>
        <p:spPr>
          <a:xfrm>
            <a:off x="8778240" y="2788920"/>
            <a:ext cx="2697480" cy="1188720"/>
          </a:xfrm>
          <a:prstGeom prst="rect">
            <a:avLst/>
          </a:prstGeom>
          <a:noFill/>
          <a:ln/>
        </p:spPr>
        <p:txBody>
          <a:bodyPr wrap="square" lIns="0" tIns="0" rIns="0" bIns="0" rtlCol="0" anchor="ctr"/>
          <a:lstStyle/>
          <a:p>
            <a:pPr indent="0" marL="0">
              <a:buNone/>
            </a:pPr>
            <a:r>
              <a:rPr lang="en-US" sz="1600" b="1" dirty="0">
                <a:solidFill>
                  <a:schemeClr val="tx1"/>
                </a:solidFill>
              </a:rPr>
              <a:t>Online topics are as good as true sessions, better than fixed chunks</a:t>
            </a:r>
            <a:endParaRPr lang="en-US" sz="1600" dirty="0"/>
          </a:p>
        </p:txBody>
      </p:sp>
      <p:sp>
        <p:nvSpPr>
          <p:cNvPr id="14" name="take-2"/>
          <p:cNvSpPr/>
          <p:nvPr/>
        </p:nvSpPr>
        <p:spPr>
          <a:xfrm>
            <a:off x="7863840" y="4206240"/>
            <a:ext cx="3749040" cy="1188720"/>
          </a:xfrm>
          <a:prstGeom prst="roundRect">
            <a:avLst>
              <a:gd name="adj" fmla="val 6154"/>
            </a:avLst>
          </a:prstGeom>
          <a:solidFill>
            <a:schemeClr val="bg2"/>
          </a:solidFill>
          <a:ln w="12700">
            <a:solidFill>
              <a:schemeClr val="bg2"/>
            </a:solidFill>
            <a:prstDash val="solid"/>
          </a:ln>
        </p:spPr>
      </p:sp>
      <p:sp>
        <p:nvSpPr>
          <p:cNvPr id="15" name="badge-3"/>
          <p:cNvSpPr/>
          <p:nvPr/>
        </p:nvSpPr>
        <p:spPr>
          <a:xfrm>
            <a:off x="8092440" y="4553712"/>
            <a:ext cx="502920" cy="502920"/>
          </a:xfrm>
          <a:prstGeom prst="ellipse">
            <a:avLst/>
          </a:prstGeom>
          <a:solidFill>
            <a:schemeClr val="accent2"/>
          </a:solidFill>
          <a:ln w="12700">
            <a:solidFill>
              <a:schemeClr val="accent2"/>
            </a:solidFill>
            <a:prstDash val="solid"/>
          </a:ln>
        </p:spPr>
      </p:sp>
      <p:sp>
        <p:nvSpPr>
          <p:cNvPr id="16" name="Text 12"/>
          <p:cNvSpPr txBox="1"/>
          <p:nvPr/>
        </p:nvSpPr>
        <p:spPr>
          <a:xfrm>
            <a:off x="8092440" y="4553712"/>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3"/>
          <p:cNvSpPr txBox="1"/>
          <p:nvPr/>
        </p:nvSpPr>
        <p:spPr>
          <a:xfrm>
            <a:off x="8778240" y="4206240"/>
            <a:ext cx="2697480" cy="1188720"/>
          </a:xfrm>
          <a:prstGeom prst="rect">
            <a:avLst/>
          </a:prstGeom>
          <a:noFill/>
          <a:ln/>
        </p:spPr>
        <p:txBody>
          <a:bodyPr wrap="square" lIns="0" tIns="0" rIns="0" bIns="0" rtlCol="0" anchor="ctr"/>
          <a:lstStyle/>
          <a:p>
            <a:pPr indent="0" marL="0">
              <a:buNone/>
            </a:pPr>
            <a:r>
              <a:rPr lang="en-US" sz="1600" b="1" dirty="0">
                <a:solidFill>
                  <a:schemeClr val="tx1"/>
                </a:solidFill>
              </a:rPr>
              <a:t>Topic structure alone adds no recall on LongMemEval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Limitations</a:t>
            </a:r>
            <a:endParaRPr lang="en-US" sz="3000" dirty="0"/>
          </a:p>
        </p:txBody>
      </p:sp>
      <p:sp>
        <p:nvSpPr>
          <p:cNvPr id="4" name="lim-0"/>
          <p:cNvSpPr/>
          <p:nvPr/>
        </p:nvSpPr>
        <p:spPr>
          <a:xfrm>
            <a:off x="548640" y="1463040"/>
            <a:ext cx="5394960" cy="2057400"/>
          </a:xfrm>
          <a:prstGeom prst="roundRect">
            <a:avLst>
              <a:gd name="adj" fmla="val 3556"/>
            </a:avLst>
          </a:prstGeom>
          <a:solidFill>
            <a:schemeClr val="bg2"/>
          </a:solidFill>
          <a:ln w="12700">
            <a:solidFill>
              <a:schemeClr val="bg2"/>
            </a:solidFill>
            <a:prstDash val="solid"/>
          </a:ln>
        </p:spPr>
      </p:sp>
      <p:sp>
        <p:nvSpPr>
          <p:cNvPr id="5" name="badge-!"/>
          <p:cNvSpPr/>
          <p:nvPr/>
        </p:nvSpPr>
        <p:spPr>
          <a:xfrm>
            <a:off x="822960" y="1737360"/>
            <a:ext cx="548640" cy="548640"/>
          </a:xfrm>
          <a:prstGeom prst="ellipse">
            <a:avLst/>
          </a:prstGeom>
          <a:solidFill>
            <a:schemeClr val="accent4"/>
          </a:solidFill>
          <a:ln w="12700">
            <a:solidFill>
              <a:schemeClr val="accent4"/>
            </a:solidFill>
            <a:prstDash val="solid"/>
          </a:ln>
        </p:spPr>
      </p:sp>
      <p:sp>
        <p:nvSpPr>
          <p:cNvPr id="6" name="Text 3"/>
          <p:cNvSpPr txBox="1"/>
          <p:nvPr/>
        </p:nvSpPr>
        <p:spPr>
          <a:xfrm>
            <a:off x="822960" y="173736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7" name="Text 4"/>
          <p:cNvSpPr txBox="1"/>
          <p:nvPr/>
        </p:nvSpPr>
        <p:spPr>
          <a:xfrm>
            <a:off x="1554480" y="1691640"/>
            <a:ext cx="4206240" cy="640080"/>
          </a:xfrm>
          <a:prstGeom prst="rect">
            <a:avLst/>
          </a:prstGeom>
          <a:noFill/>
          <a:ln/>
        </p:spPr>
        <p:txBody>
          <a:bodyPr wrap="square" lIns="0" tIns="0" rIns="0" bIns="0" rtlCol="0" anchor="ctr"/>
          <a:lstStyle/>
          <a:p>
            <a:pPr indent="0" marL="0">
              <a:buNone/>
            </a:pPr>
            <a:r>
              <a:rPr lang="en-US" sz="2000" b="1" dirty="0">
                <a:solidFill>
                  <a:schemeClr val="tx1"/>
                </a:solidFill>
              </a:rPr>
              <a:t>One benchmark</a:t>
            </a:r>
            <a:endParaRPr lang="en-US" sz="2000" dirty="0"/>
          </a:p>
        </p:txBody>
      </p:sp>
      <p:sp>
        <p:nvSpPr>
          <p:cNvPr id="8" name="Text 5"/>
          <p:cNvSpPr txBox="1"/>
          <p:nvPr/>
        </p:nvSpPr>
        <p:spPr>
          <a:xfrm>
            <a:off x="822960" y="2423160"/>
            <a:ext cx="4846320" cy="1005840"/>
          </a:xfrm>
          <a:prstGeom prst="rect">
            <a:avLst/>
          </a:prstGeom>
          <a:noFill/>
          <a:ln/>
        </p:spPr>
        <p:txBody>
          <a:bodyPr wrap="square" lIns="0" tIns="0" rIns="0" bIns="0" rtlCol="0" anchor="t"/>
          <a:lstStyle/>
          <a:p>
            <a:pPr indent="0" marL="0">
              <a:buNone/>
            </a:pPr>
            <a:r>
              <a:rPr lang="en-US" sz="1600" dirty="0">
                <a:solidFill>
                  <a:schemeClr val="tx2"/>
                </a:solidFill>
              </a:rPr>
              <a:t>LongMemEval sessions are mostly single-topic and its evidence is mostly user statements.</a:t>
            </a:r>
            <a:endParaRPr lang="en-US" sz="1600" dirty="0"/>
          </a:p>
        </p:txBody>
      </p:sp>
      <p:sp>
        <p:nvSpPr>
          <p:cNvPr id="9" name="lim-1"/>
          <p:cNvSpPr/>
          <p:nvPr/>
        </p:nvSpPr>
        <p:spPr>
          <a:xfrm>
            <a:off x="6217920" y="1463040"/>
            <a:ext cx="5394960" cy="2057400"/>
          </a:xfrm>
          <a:prstGeom prst="roundRect">
            <a:avLst>
              <a:gd name="adj" fmla="val 3556"/>
            </a:avLst>
          </a:prstGeom>
          <a:solidFill>
            <a:schemeClr val="bg2"/>
          </a:solidFill>
          <a:ln w="12700">
            <a:solidFill>
              <a:schemeClr val="bg2"/>
            </a:solidFill>
            <a:prstDash val="solid"/>
          </a:ln>
        </p:spPr>
      </p:sp>
      <p:sp>
        <p:nvSpPr>
          <p:cNvPr id="10" name="badge-!"/>
          <p:cNvSpPr/>
          <p:nvPr/>
        </p:nvSpPr>
        <p:spPr>
          <a:xfrm>
            <a:off x="6492240" y="1737360"/>
            <a:ext cx="548640" cy="548640"/>
          </a:xfrm>
          <a:prstGeom prst="ellipse">
            <a:avLst/>
          </a:prstGeom>
          <a:solidFill>
            <a:schemeClr val="accent4"/>
          </a:solidFill>
          <a:ln w="12700">
            <a:solidFill>
              <a:schemeClr val="accent4"/>
            </a:solidFill>
            <a:prstDash val="solid"/>
          </a:ln>
        </p:spPr>
      </p:sp>
      <p:sp>
        <p:nvSpPr>
          <p:cNvPr id="11" name="Text 8"/>
          <p:cNvSpPr txBox="1"/>
          <p:nvPr/>
        </p:nvSpPr>
        <p:spPr>
          <a:xfrm>
            <a:off x="6492240" y="173736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2" name="Text 9"/>
          <p:cNvSpPr txBox="1"/>
          <p:nvPr/>
        </p:nvSpPr>
        <p:spPr>
          <a:xfrm>
            <a:off x="7223760" y="1691640"/>
            <a:ext cx="4206240" cy="640080"/>
          </a:xfrm>
          <a:prstGeom prst="rect">
            <a:avLst/>
          </a:prstGeom>
          <a:noFill/>
          <a:ln/>
        </p:spPr>
        <p:txBody>
          <a:bodyPr wrap="square" lIns="0" tIns="0" rIns="0" bIns="0" rtlCol="0" anchor="ctr"/>
          <a:lstStyle/>
          <a:p>
            <a:pPr indent="0" marL="0">
              <a:buNone/>
            </a:pPr>
            <a:r>
              <a:rPr lang="en-US" sz="2000" b="1" dirty="0">
                <a:solidFill>
                  <a:schemeClr val="tx1"/>
                </a:solidFill>
              </a:rPr>
              <a:t>Small reader, lexical metric</a:t>
            </a:r>
            <a:endParaRPr lang="en-US" sz="2000" dirty="0"/>
          </a:p>
        </p:txBody>
      </p:sp>
      <p:sp>
        <p:nvSpPr>
          <p:cNvPr id="13" name="Text 10"/>
          <p:cNvSpPr txBox="1"/>
          <p:nvPr/>
        </p:nvSpPr>
        <p:spPr>
          <a:xfrm>
            <a:off x="6492240" y="2423160"/>
            <a:ext cx="4846320" cy="1005840"/>
          </a:xfrm>
          <a:prstGeom prst="rect">
            <a:avLst/>
          </a:prstGeom>
          <a:noFill/>
          <a:ln/>
        </p:spPr>
        <p:txBody>
          <a:bodyPr wrap="square" lIns="0" tIns="0" rIns="0" bIns="0" rtlCol="0" anchor="t"/>
          <a:lstStyle/>
          <a:p>
            <a:pPr indent="0" marL="0">
              <a:buNone/>
            </a:pPr>
            <a:r>
              <a:rPr lang="en-US" sz="1600" dirty="0">
                <a:solidFill>
                  <a:schemeClr val="tx2"/>
                </a:solidFill>
              </a:rPr>
              <a:t>Qwen2.5-3B scored by token F1, not an LLM judge; it answers worse with 4K tokens.</a:t>
            </a:r>
            <a:endParaRPr lang="en-US" sz="1600" dirty="0"/>
          </a:p>
        </p:txBody>
      </p:sp>
      <p:sp>
        <p:nvSpPr>
          <p:cNvPr id="14" name="lim-2"/>
          <p:cNvSpPr/>
          <p:nvPr/>
        </p:nvSpPr>
        <p:spPr>
          <a:xfrm>
            <a:off x="548640" y="3794760"/>
            <a:ext cx="5394960" cy="2057400"/>
          </a:xfrm>
          <a:prstGeom prst="roundRect">
            <a:avLst>
              <a:gd name="adj" fmla="val 3556"/>
            </a:avLst>
          </a:prstGeom>
          <a:solidFill>
            <a:schemeClr val="bg2"/>
          </a:solidFill>
          <a:ln w="12700">
            <a:solidFill>
              <a:schemeClr val="bg2"/>
            </a:solidFill>
            <a:prstDash val="solid"/>
          </a:ln>
        </p:spPr>
      </p:sp>
      <p:sp>
        <p:nvSpPr>
          <p:cNvPr id="15" name="badge-!"/>
          <p:cNvSpPr/>
          <p:nvPr/>
        </p:nvSpPr>
        <p:spPr>
          <a:xfrm>
            <a:off x="822960" y="4069080"/>
            <a:ext cx="548640" cy="548640"/>
          </a:xfrm>
          <a:prstGeom prst="ellipse">
            <a:avLst/>
          </a:prstGeom>
          <a:solidFill>
            <a:schemeClr val="accent4"/>
          </a:solidFill>
          <a:ln w="12700">
            <a:solidFill>
              <a:schemeClr val="accent4"/>
            </a:solidFill>
            <a:prstDash val="solid"/>
          </a:ln>
        </p:spPr>
      </p:sp>
      <p:sp>
        <p:nvSpPr>
          <p:cNvPr id="16" name="Text 13"/>
          <p:cNvSpPr txBox="1"/>
          <p:nvPr/>
        </p:nvSpPr>
        <p:spPr>
          <a:xfrm>
            <a:off x="822960" y="40690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7" name="Text 14"/>
          <p:cNvSpPr txBox="1"/>
          <p:nvPr/>
        </p:nvSpPr>
        <p:spPr>
          <a:xfrm>
            <a:off x="1554480" y="4023360"/>
            <a:ext cx="4206240" cy="640080"/>
          </a:xfrm>
          <a:prstGeom prst="rect">
            <a:avLst/>
          </a:prstGeom>
          <a:noFill/>
          <a:ln/>
        </p:spPr>
        <p:txBody>
          <a:bodyPr wrap="square" lIns="0" tIns="0" rIns="0" bIns="0" rtlCol="0" anchor="ctr"/>
          <a:lstStyle/>
          <a:p>
            <a:pPr indent="0" marL="0">
              <a:buNone/>
            </a:pPr>
            <a:r>
              <a:rPr lang="en-US" sz="2000" b="1" dirty="0">
                <a:solidFill>
                  <a:schemeClr val="tx1"/>
                </a:solidFill>
              </a:rPr>
              <a:t>SeCom without GPT-4 segments</a:t>
            </a:r>
            <a:endParaRPr lang="en-US" sz="2000" dirty="0"/>
          </a:p>
        </p:txBody>
      </p:sp>
      <p:sp>
        <p:nvSpPr>
          <p:cNvPr id="18" name="Text 15"/>
          <p:cNvSpPr txBox="1"/>
          <p:nvPr/>
        </p:nvSpPr>
        <p:spPr>
          <a:xfrm>
            <a:off x="822960" y="4754880"/>
            <a:ext cx="4846320" cy="1005840"/>
          </a:xfrm>
          <a:prstGeom prst="rect">
            <a:avLst/>
          </a:prstGeom>
          <a:noFill/>
          <a:ln/>
        </p:spPr>
        <p:txBody>
          <a:bodyPr wrap="square" lIns="0" tIns="0" rIns="0" bIns="0" rtlCol="0" anchor="t"/>
          <a:lstStyle/>
          <a:p>
            <a:pPr indent="0" marL="0">
              <a:buNone/>
            </a:pPr>
            <a:r>
              <a:rPr lang="en-US" sz="1600" dirty="0">
                <a:solidFill>
                  <a:schemeClr val="tx2"/>
                </a:solidFill>
              </a:rPr>
              <a:t>Replaced by an LLM-free equivalent; exchange-level retrieval bounds finer segments.</a:t>
            </a:r>
            <a:endParaRPr lang="en-US" sz="1600" dirty="0"/>
          </a:p>
        </p:txBody>
      </p:sp>
      <p:sp>
        <p:nvSpPr>
          <p:cNvPr id="19" name="lim-3"/>
          <p:cNvSpPr/>
          <p:nvPr/>
        </p:nvSpPr>
        <p:spPr>
          <a:xfrm>
            <a:off x="6217920" y="3794760"/>
            <a:ext cx="5394960" cy="2057400"/>
          </a:xfrm>
          <a:prstGeom prst="roundRect">
            <a:avLst>
              <a:gd name="adj" fmla="val 3556"/>
            </a:avLst>
          </a:prstGeom>
          <a:solidFill>
            <a:schemeClr val="bg2"/>
          </a:solidFill>
          <a:ln w="12700">
            <a:solidFill>
              <a:schemeClr val="bg2"/>
            </a:solidFill>
            <a:prstDash val="solid"/>
          </a:ln>
        </p:spPr>
      </p:sp>
      <p:sp>
        <p:nvSpPr>
          <p:cNvPr id="20" name="badge-!"/>
          <p:cNvSpPr/>
          <p:nvPr/>
        </p:nvSpPr>
        <p:spPr>
          <a:xfrm>
            <a:off x="6492240" y="4069080"/>
            <a:ext cx="548640" cy="548640"/>
          </a:xfrm>
          <a:prstGeom prst="ellipse">
            <a:avLst/>
          </a:prstGeom>
          <a:solidFill>
            <a:schemeClr val="accent4"/>
          </a:solidFill>
          <a:ln w="12700">
            <a:solidFill>
              <a:schemeClr val="accent4"/>
            </a:solidFill>
            <a:prstDash val="solid"/>
          </a:ln>
        </p:spPr>
      </p:sp>
      <p:sp>
        <p:nvSpPr>
          <p:cNvPr id="21" name="Text 18"/>
          <p:cNvSpPr txBox="1"/>
          <p:nvPr/>
        </p:nvSpPr>
        <p:spPr>
          <a:xfrm>
            <a:off x="6492240" y="406908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22" name="Text 19"/>
          <p:cNvSpPr txBox="1"/>
          <p:nvPr/>
        </p:nvSpPr>
        <p:spPr>
          <a:xfrm>
            <a:off x="7223760" y="4023360"/>
            <a:ext cx="4206240" cy="640080"/>
          </a:xfrm>
          <a:prstGeom prst="rect">
            <a:avLst/>
          </a:prstGeom>
          <a:noFill/>
          <a:ln/>
        </p:spPr>
        <p:txBody>
          <a:bodyPr wrap="square" lIns="0" tIns="0" rIns="0" bIns="0" rtlCol="0" anchor="ctr"/>
          <a:lstStyle/>
          <a:p>
            <a:pPr indent="0" marL="0">
              <a:buNone/>
            </a:pPr>
            <a:r>
              <a:rPr lang="en-US" sz="2000" b="1" dirty="0">
                <a:solidFill>
                  <a:schemeClr val="tx1"/>
                </a:solidFill>
              </a:rPr>
              <a:t>The user prior has a cost</a:t>
            </a:r>
            <a:endParaRPr lang="en-US" sz="2000" dirty="0"/>
          </a:p>
        </p:txBody>
      </p:sp>
      <p:sp>
        <p:nvSpPr>
          <p:cNvPr id="23" name="Text 20"/>
          <p:cNvSpPr txBox="1"/>
          <p:nvPr/>
        </p:nvSpPr>
        <p:spPr>
          <a:xfrm>
            <a:off x="6492240" y="4754880"/>
            <a:ext cx="4846320" cy="1005840"/>
          </a:xfrm>
          <a:prstGeom prst="rect">
            <a:avLst/>
          </a:prstGeom>
          <a:noFill/>
          <a:ln/>
        </p:spPr>
        <p:txBody>
          <a:bodyPr wrap="square" lIns="0" tIns="0" rIns="0" bIns="0" rtlCol="0" anchor="t"/>
          <a:lstStyle/>
          <a:p>
            <a:pPr indent="0" marL="0">
              <a:buNone/>
            </a:pPr>
            <a:r>
              <a:rPr lang="en-US" sz="1600" dirty="0">
                <a:solidFill>
                  <a:schemeClr val="tx2"/>
                </a:solidFill>
              </a:rPr>
              <a:t>Questions answered by an assistant reply lose recall (0.815 vs 0.889).</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badge"/>
          <p:cNvSpPr/>
          <p:nvPr/>
        </p:nvSpPr>
        <p:spPr>
          <a:xfrm>
            <a:off x="731520" y="2651760"/>
            <a:ext cx="1097280" cy="1097280"/>
          </a:xfrm>
          <a:prstGeom prst="ellipse">
            <a:avLst/>
          </a:prstGeom>
          <a:solidFill>
            <a:schemeClr val="accent1"/>
          </a:solidFill>
          <a:ln w="12700">
            <a:solidFill>
              <a:schemeClr val="accent1"/>
            </a:solidFill>
            <a:prstDash val="solid"/>
          </a:ln>
        </p:spPr>
      </p:sp>
      <p:sp>
        <p:nvSpPr>
          <p:cNvPr id="3" name="Text 1"/>
          <p:cNvSpPr txBox="1"/>
          <p:nvPr/>
        </p:nvSpPr>
        <p:spPr>
          <a:xfrm>
            <a:off x="731520" y="2651760"/>
            <a:ext cx="1097280" cy="1097280"/>
          </a:xfrm>
          <a:prstGeom prst="rect">
            <a:avLst/>
          </a:prstGeom>
          <a:noFill/>
          <a:ln/>
        </p:spPr>
        <p:txBody>
          <a:bodyPr wrap="square" lIns="0" tIns="0" rIns="0" bIns="0" rtlCol="0" anchor="ctr"/>
          <a:lstStyle/>
          <a:p>
            <a:pPr algn="ctr" indent="0" marL="0">
              <a:buNone/>
            </a:pPr>
            <a:r>
              <a:rPr lang="en-US" sz="3600" b="1" dirty="0">
                <a:solidFill>
                  <a:schemeClr val="bg1"/>
                </a:solidFill>
                <a:latin typeface="Cambria" pitchFamily="34" charset="0"/>
                <a:ea typeface="Cambria" pitchFamily="34" charset="-122"/>
                <a:cs typeface="Cambria" pitchFamily="34" charset="-120"/>
              </a:rPr>
              <a:t>5</a:t>
            </a:r>
            <a:endParaRPr lang="en-US" sz="3600" dirty="0"/>
          </a:p>
        </p:txBody>
      </p:sp>
      <p:sp>
        <p:nvSpPr>
          <p:cNvPr id="4" name="Text 0"/>
          <p:cNvSpPr/>
          <p:nvPr>
            <p:ph idx="100" type="title" hasCustomPrompt="1"/>
          </p:nvPr>
        </p:nvSpPr>
        <p:spPr>
          <a:xfrm>
            <a:off x="2194560" y="265176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rPr>
              <a:t>Conclusion</a:t>
            </a:r>
            <a:endParaRPr lang="en-US" sz="4000" dirty="0"/>
          </a:p>
        </p:txBody>
      </p:sp>
      <p:sp>
        <p:nvSpPr>
          <p:cNvPr id="5" name="Text 0"/>
          <p:cNvSpPr/>
          <p:nvPr>
            <p:ph idx="101" type="body" hasCustomPrompt="1"/>
          </p:nvPr>
        </p:nvSpPr>
        <p:spPr>
          <a:xfrm>
            <a:off x="2194560" y="3566160"/>
            <a:ext cx="9144000" cy="731520"/>
          </a:xfrm>
          <a:prstGeom prst="rect">
            <a:avLst/>
          </a:prstGeom>
          <a:noFill/>
          <a:ln/>
        </p:spPr>
        <p:txBody>
          <a:bodyPr wrap="square" lIns="0" tIns="0" rIns="0" bIns="0" rtlCol="0" anchor="t"/>
          <a:lstStyle/>
          <a:p>
            <a:pPr indent="0" marL="0">
              <a:buNone/>
            </a:pPr>
            <a:r>
              <a:rPr lang="en-US" sz="2000" dirty="0">
                <a:solidFill>
                  <a:schemeClr val="bg2"/>
                </a:solidFill>
              </a:rPr>
              <a:t>What we showed and what comes next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Conclusion and future work</a:t>
            </a:r>
            <a:endParaRPr lang="en-US" sz="3000" dirty="0"/>
          </a:p>
        </p:txBody>
      </p:sp>
      <p:sp>
        <p:nvSpPr>
          <p:cNvPr id="4" name="Text 1"/>
          <p:cNvSpPr txBox="1"/>
          <p:nvPr/>
        </p:nvSpPr>
        <p:spPr>
          <a:xfrm>
            <a:off x="548640" y="1371600"/>
            <a:ext cx="356616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0.64 → 0.91</a:t>
            </a:r>
            <a:endParaRPr lang="en-US" sz="4000" dirty="0"/>
          </a:p>
        </p:txBody>
      </p:sp>
      <p:sp>
        <p:nvSpPr>
          <p:cNvPr id="5" name="Text 2"/>
          <p:cNvSpPr txBox="1"/>
          <p:nvPr/>
        </p:nvSpPr>
        <p:spPr>
          <a:xfrm>
            <a:off x="548640" y="2084832"/>
            <a:ext cx="3566160" cy="685800"/>
          </a:xfrm>
          <a:prstGeom prst="rect">
            <a:avLst/>
          </a:prstGeom>
          <a:noFill/>
          <a:ln/>
        </p:spPr>
        <p:txBody>
          <a:bodyPr wrap="square" lIns="0" tIns="0" rIns="0" bIns="0" rtlCol="0" anchor="t"/>
          <a:lstStyle/>
          <a:p>
            <a:pPr indent="0" marL="0">
              <a:buNone/>
            </a:pPr>
            <a:r>
              <a:rPr lang="en-US" sz="1500" dirty="0">
                <a:solidFill>
                  <a:schemeClr val="tx2"/>
                </a:solidFill>
              </a:rPr>
              <a:t>evidence recall vs SeCom at 2,048 tokens</a:t>
            </a:r>
            <a:endParaRPr lang="en-US" sz="1500" dirty="0"/>
          </a:p>
        </p:txBody>
      </p:sp>
      <p:sp>
        <p:nvSpPr>
          <p:cNvPr id="6" name="Text 3"/>
          <p:cNvSpPr txBox="1"/>
          <p:nvPr/>
        </p:nvSpPr>
        <p:spPr>
          <a:xfrm>
            <a:off x="4343400" y="1371600"/>
            <a:ext cx="3566160" cy="68580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+37%</a:t>
            </a:r>
            <a:endParaRPr lang="en-US" sz="4000" dirty="0"/>
          </a:p>
        </p:txBody>
      </p:sp>
      <p:sp>
        <p:nvSpPr>
          <p:cNvPr id="7" name="Text 4"/>
          <p:cNvSpPr txBox="1"/>
          <p:nvPr/>
        </p:nvSpPr>
        <p:spPr>
          <a:xfrm>
            <a:off x="4343400" y="2084832"/>
            <a:ext cx="3566160" cy="685800"/>
          </a:xfrm>
          <a:prstGeom prst="rect">
            <a:avLst/>
          </a:prstGeom>
          <a:noFill/>
          <a:ln/>
        </p:spPr>
        <p:txBody>
          <a:bodyPr wrap="square" lIns="0" tIns="0" rIns="0" bIns="0" rtlCol="0" anchor="t"/>
          <a:lstStyle/>
          <a:p>
            <a:pPr indent="0" marL="0">
              <a:buNone/>
            </a:pPr>
            <a:r>
              <a:rPr lang="en-US" sz="1500" dirty="0">
                <a:solidFill>
                  <a:schemeClr val="tx2"/>
                </a:solidFill>
              </a:rPr>
              <a:t>answer F1 vs SeCom (0.270 → 0.369)</a:t>
            </a:r>
            <a:endParaRPr lang="en-US" sz="1500" dirty="0"/>
          </a:p>
        </p:txBody>
      </p:sp>
      <p:sp>
        <p:nvSpPr>
          <p:cNvPr id="8" name="Text 5"/>
          <p:cNvSpPr txBox="1"/>
          <p:nvPr/>
        </p:nvSpPr>
        <p:spPr>
          <a:xfrm>
            <a:off x="8138160" y="1371600"/>
            <a:ext cx="3566160"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a:t>
            </a:r>
            <a:endParaRPr lang="en-US" sz="4000" dirty="0"/>
          </a:p>
        </p:txBody>
      </p:sp>
      <p:sp>
        <p:nvSpPr>
          <p:cNvPr id="9" name="Text 6"/>
          <p:cNvSpPr txBox="1"/>
          <p:nvPr/>
        </p:nvSpPr>
        <p:spPr>
          <a:xfrm>
            <a:off x="8138160" y="2084832"/>
            <a:ext cx="3566160" cy="685800"/>
          </a:xfrm>
          <a:prstGeom prst="rect">
            <a:avLst/>
          </a:prstGeom>
          <a:noFill/>
          <a:ln/>
        </p:spPr>
        <p:txBody>
          <a:bodyPr wrap="square" lIns="0" tIns="0" rIns="0" bIns="0" rtlCol="0" anchor="t"/>
          <a:lstStyle/>
          <a:p>
            <a:pPr indent="0" marL="0">
              <a:buNone/>
            </a:pPr>
            <a:r>
              <a:rPr lang="en-US" sz="1500" dirty="0">
                <a:solidFill>
                  <a:schemeClr val="tx2"/>
                </a:solidFill>
              </a:rPr>
              <a:t>LLM calls to build the memory</a:t>
            </a:r>
            <a:endParaRPr lang="en-US" sz="1500" dirty="0"/>
          </a:p>
        </p:txBody>
      </p:sp>
      <p:sp>
        <p:nvSpPr>
          <p:cNvPr id="10" name="novelty"/>
          <p:cNvSpPr/>
          <p:nvPr/>
        </p:nvSpPr>
        <p:spPr>
          <a:xfrm>
            <a:off x="548640" y="3246120"/>
            <a:ext cx="5486400" cy="2788920"/>
          </a:xfrm>
          <a:prstGeom prst="roundRect">
            <a:avLst>
              <a:gd name="adj" fmla="val 2623"/>
            </a:avLst>
          </a:prstGeom>
          <a:solidFill>
            <a:schemeClr val="bg2"/>
          </a:solidFill>
          <a:ln w="12700">
            <a:solidFill>
              <a:schemeClr val="bg2"/>
            </a:solidFill>
            <a:prstDash val="solid"/>
          </a:ln>
        </p:spPr>
      </p:sp>
      <p:sp>
        <p:nvSpPr>
          <p:cNvPr id="11" name="Text 8"/>
          <p:cNvSpPr txBox="1"/>
          <p:nvPr/>
        </p:nvSpPr>
        <p:spPr>
          <a:xfrm>
            <a:off x="822960" y="3429000"/>
            <a:ext cx="493776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Novelty</a:t>
            </a:r>
            <a:endParaRPr lang="en-US" sz="2000" dirty="0"/>
          </a:p>
        </p:txBody>
      </p:sp>
      <p:sp>
        <p:nvSpPr>
          <p:cNvPr id="12" name="Text 9"/>
          <p:cNvSpPr txBox="1"/>
          <p:nvPr/>
        </p:nvSpPr>
        <p:spPr>
          <a:xfrm>
            <a:off x="822960" y="3977640"/>
            <a:ext cx="5029200" cy="1920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2"/>
                </a:solidFill>
              </a:rPr>
              <a:t>Delayed-commitment topics: online, final, LLM-free</a:t>
            </a:r>
            <a:endParaRPr lang="en-US" sz="1700" dirty="0"/>
          </a:p>
          <a:p>
            <a:pPr marL="342900" indent="-342900">
              <a:spcAft>
                <a:spcPts val="800"/>
              </a:spcAft>
              <a:buSzPct val="100000"/>
              <a:buChar char="•"/>
            </a:pPr>
            <a:r>
              <a:rPr lang="en-US" sz="1700" dirty="0">
                <a:solidFill>
                  <a:schemeClr val="tx2"/>
                </a:solidFill>
              </a:rPr>
              <a:t>Retrieval shaped by the budget: read user turns in relevant topics</a:t>
            </a:r>
            <a:endParaRPr lang="en-US" sz="1700" dirty="0"/>
          </a:p>
          <a:p>
            <a:pPr marL="342900" indent="-342900">
              <a:spcAft>
                <a:spcPts val="800"/>
              </a:spcAft>
              <a:buSzPct val="100000"/>
              <a:buChar char="•"/>
            </a:pPr>
            <a:r>
              <a:rPr lang="en-US" sz="1700" dirty="0">
                <a:solidFill>
                  <a:schemeClr val="tx2"/>
                </a:solidFill>
              </a:rPr>
              <a:t>A controlled test of what drives topic-memory gains</a:t>
            </a:r>
            <a:endParaRPr lang="en-US" sz="1700" dirty="0"/>
          </a:p>
        </p:txBody>
      </p:sp>
      <p:sp>
        <p:nvSpPr>
          <p:cNvPr id="13" name="future"/>
          <p:cNvSpPr/>
          <p:nvPr/>
        </p:nvSpPr>
        <p:spPr>
          <a:xfrm>
            <a:off x="6172200" y="3246120"/>
            <a:ext cx="5440680" cy="2788920"/>
          </a:xfrm>
          <a:prstGeom prst="roundRect">
            <a:avLst>
              <a:gd name="adj" fmla="val 2623"/>
            </a:avLst>
          </a:prstGeom>
          <a:solidFill>
            <a:srgbClr val="EAF2FC"/>
          </a:solidFill>
          <a:ln w="12700">
            <a:solidFill>
              <a:srgbClr val="EAF2FC"/>
            </a:solidFill>
            <a:prstDash val="solid"/>
          </a:ln>
        </p:spPr>
      </p:sp>
      <p:sp>
        <p:nvSpPr>
          <p:cNvPr id="14" name="Text 11"/>
          <p:cNvSpPr txBox="1"/>
          <p:nvPr/>
        </p:nvSpPr>
        <p:spPr>
          <a:xfrm>
            <a:off x="6446520" y="3429000"/>
            <a:ext cx="4937760" cy="45720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Future work</a:t>
            </a:r>
            <a:endParaRPr lang="en-US" sz="2000" dirty="0"/>
          </a:p>
        </p:txBody>
      </p:sp>
      <p:sp>
        <p:nvSpPr>
          <p:cNvPr id="15" name="Text 12"/>
          <p:cNvSpPr txBox="1"/>
          <p:nvPr/>
        </p:nvSpPr>
        <p:spPr>
          <a:xfrm>
            <a:off x="6446520" y="3977640"/>
            <a:ext cx="4983480" cy="19202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2"/>
                </a:solidFill>
              </a:rPr>
              <a:t>Benchmarks whose sessions mix several topics (e.g. LoCoMo)</a:t>
            </a:r>
            <a:endParaRPr lang="en-US" sz="1700" dirty="0"/>
          </a:p>
          <a:p>
            <a:pPr marL="342900" indent="-342900">
              <a:spcAft>
                <a:spcPts val="800"/>
              </a:spcAft>
              <a:buSzPct val="100000"/>
              <a:buChar char="•"/>
            </a:pPr>
            <a:r>
              <a:rPr lang="en-US" sz="1700" dirty="0">
                <a:solidFill>
                  <a:schemeClr val="tx2"/>
                </a:solidFill>
              </a:rPr>
              <a:t>Learn the user prior and budget split from the question</a:t>
            </a:r>
            <a:endParaRPr lang="en-US" sz="1700" dirty="0"/>
          </a:p>
          <a:p>
            <a:pPr marL="342900" indent="-342900">
              <a:spcAft>
                <a:spcPts val="800"/>
              </a:spcAft>
              <a:buSzPct val="100000"/>
              <a:buChar char="•"/>
            </a:pPr>
            <a:r>
              <a:rPr lang="en-US" sz="1700" dirty="0">
                <a:solidFill>
                  <a:schemeClr val="tx2"/>
                </a:solidFill>
              </a:rPr>
              <a:t>Larger readers and LLM-judged answers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Key references</a:t>
            </a:r>
            <a:endParaRPr lang="en-US" sz="3000" dirty="0"/>
          </a:p>
        </p:txBody>
      </p:sp>
      <p:sp>
        <p:nvSpPr>
          <p:cNvPr id="4" name="Text 1"/>
          <p:cNvSpPr txBox="1"/>
          <p:nvPr/>
        </p:nvSpPr>
        <p:spPr>
          <a:xfrm>
            <a:off x="548640" y="1325880"/>
            <a:ext cx="11064240" cy="49377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chemeClr val="tx2"/>
                </a:solidFill>
              </a:rPr>
              <a:t>Z. Pan et al., On memory construction and retrieval for personalized conversational agents (SeCom), ICLR 2025.</a:t>
            </a:r>
            <a:endParaRPr lang="en-US" sz="1600" dirty="0"/>
          </a:p>
          <a:p>
            <a:pPr marL="342900" indent="-342900">
              <a:spcAft>
                <a:spcPts val="600"/>
              </a:spcAft>
              <a:buSzPct val="100000"/>
              <a:buFont typeface="+mj-lt"/>
              <a:buAutoNum type="arabicPeriod" startAt="1"/>
            </a:pPr>
            <a:r>
              <a:rPr lang="en-US" sz="1600" dirty="0">
                <a:solidFill>
                  <a:schemeClr val="tx2"/>
                </a:solidFill>
              </a:rPr>
              <a:t>D. Wu et al., LongMemEval: Benchmarking chat assistants on long-term interactive memory, ICLR 2025.</a:t>
            </a:r>
            <a:endParaRPr lang="en-US" sz="1600" dirty="0"/>
          </a:p>
          <a:p>
            <a:pPr marL="342900" indent="-342900">
              <a:spcAft>
                <a:spcPts val="600"/>
              </a:spcAft>
              <a:buSzPct val="100000"/>
              <a:buFont typeface="+mj-lt"/>
              <a:buAutoNum type="arabicPeriod" startAt="1"/>
            </a:pPr>
            <a:r>
              <a:rPr lang="en-US" sz="1600" dirty="0">
                <a:solidFill>
                  <a:schemeClr val="tx2"/>
                </a:solidFill>
              </a:rPr>
              <a:t>Z. Pan et al., LLMLingua-2: Data distillation for efficient and faithful prompt compression, Findings of ACL 2024.</a:t>
            </a:r>
            <a:endParaRPr lang="en-US" sz="1600" dirty="0"/>
          </a:p>
          <a:p>
            <a:pPr marL="342900" indent="-342900">
              <a:spcAft>
                <a:spcPts val="600"/>
              </a:spcAft>
              <a:buSzPct val="100000"/>
              <a:buFont typeface="+mj-lt"/>
              <a:buAutoNum type="arabicPeriod" startAt="1"/>
            </a:pPr>
            <a:r>
              <a:rPr lang="en-US" sz="1600" dirty="0">
                <a:solidFill>
                  <a:schemeClr val="tx2"/>
                </a:solidFill>
              </a:rPr>
              <a:t>W. Zhong et al., MemoryBank: Enhancing large language models with long-term memory, AAAI 2024.</a:t>
            </a:r>
            <a:endParaRPr lang="en-US" sz="1600" dirty="0"/>
          </a:p>
          <a:p>
            <a:pPr marL="342900" indent="-342900">
              <a:spcAft>
                <a:spcPts val="600"/>
              </a:spcAft>
              <a:buSzPct val="100000"/>
              <a:buFont typeface="+mj-lt"/>
              <a:buAutoNum type="arabicPeriod" startAt="1"/>
            </a:pPr>
            <a:r>
              <a:rPr lang="en-US" sz="1600" dirty="0">
                <a:solidFill>
                  <a:schemeClr val="tx2"/>
                </a:solidFill>
              </a:rPr>
              <a:t>C. Packer et al., MemGPT: Towards LLMs as operating systems, arXiv:2310.08560, 2023.</a:t>
            </a:r>
            <a:endParaRPr lang="en-US" sz="1600" dirty="0"/>
          </a:p>
          <a:p>
            <a:pPr marL="342900" indent="-342900">
              <a:spcAft>
                <a:spcPts val="600"/>
              </a:spcAft>
              <a:buSzPct val="100000"/>
              <a:buFont typeface="+mj-lt"/>
              <a:buAutoNum type="arabicPeriod" startAt="1"/>
            </a:pPr>
            <a:r>
              <a:rPr lang="en-US" sz="1600" dirty="0">
                <a:solidFill>
                  <a:schemeClr val="tx2"/>
                </a:solidFill>
              </a:rPr>
              <a:t>Q. Wang et al., Recursively summarizing enables long-term dialogue memory in LLMs, Neurocomputing 2025.</a:t>
            </a:r>
            <a:endParaRPr lang="en-US" sz="1600" dirty="0"/>
          </a:p>
          <a:p>
            <a:pPr marL="342900" indent="-342900">
              <a:spcAft>
                <a:spcPts val="600"/>
              </a:spcAft>
              <a:buSzPct val="100000"/>
              <a:buFont typeface="+mj-lt"/>
              <a:buAutoNum type="arabicPeriod" startAt="1"/>
            </a:pPr>
            <a:r>
              <a:rPr lang="en-US" sz="1600" dirty="0">
                <a:solidFill>
                  <a:schemeClr val="tx2"/>
                </a:solidFill>
              </a:rPr>
              <a:t>J. Xu et al., Unsupervised mutual learning of discourse parsing and topic segmentation in dialogue, IEEE/ACM TASLP 2025.</a:t>
            </a:r>
            <a:endParaRPr lang="en-US" sz="1600" dirty="0"/>
          </a:p>
          <a:p>
            <a:pPr marL="342900" indent="-342900">
              <a:spcAft>
                <a:spcPts val="600"/>
              </a:spcAft>
              <a:buSzPct val="100000"/>
              <a:buFont typeface="+mj-lt"/>
              <a:buAutoNum type="arabicPeriod" startAt="1"/>
            </a:pPr>
            <a:r>
              <a:rPr lang="en-US" sz="1600" dirty="0">
                <a:solidFill>
                  <a:schemeClr val="tx2"/>
                </a:solidFill>
              </a:rPr>
              <a:t>M. A. Hearst, TextTiling: Segmenting text into multi-paragraph subtopic passages, Computational Linguistics 1997.</a:t>
            </a:r>
            <a:endParaRPr lang="en-US" sz="1600" dirty="0"/>
          </a:p>
          <a:p>
            <a:pPr marL="342900" indent="-342900">
              <a:spcAft>
                <a:spcPts val="600"/>
              </a:spcAft>
              <a:buSzPct val="100000"/>
              <a:buFont typeface="+mj-lt"/>
              <a:buAutoNum type="arabicPeriod" startAt="1"/>
            </a:pPr>
            <a:r>
              <a:rPr lang="en-US" sz="1600" dirty="0">
                <a:solidFill>
                  <a:schemeClr val="tx2"/>
                </a:solidFill>
              </a:rPr>
              <a:t>S. Robertson and H. Zaragoza, The probabilistic relevance framework: BM25 and beyond, FnTIR 2009.</a:t>
            </a:r>
            <a:endParaRPr lang="en-US" sz="1600" dirty="0"/>
          </a:p>
          <a:p>
            <a:pPr marL="342900" indent="-342900">
              <a:spcAft>
                <a:spcPts val="600"/>
              </a:spcAft>
              <a:buSzPct val="100000"/>
              <a:buFont typeface="+mj-lt"/>
              <a:buAutoNum type="arabicPeriod" startAt="1"/>
            </a:pPr>
            <a:r>
              <a:rPr lang="en-US" sz="1600" dirty="0">
                <a:solidFill>
                  <a:schemeClr val="tx2"/>
                </a:solidFill>
              </a:rPr>
              <a:t>G. V. Cormack et al., Reciprocal rank fusion outperforms Condorcet and individual rank learning methods, SIGIR 2009.</a:t>
            </a:r>
            <a:endParaRPr lang="en-US" sz="1600" dirty="0"/>
          </a:p>
          <a:p>
            <a:pPr marL="342900" indent="-342900">
              <a:spcAft>
                <a:spcPts val="600"/>
              </a:spcAft>
              <a:buSzPct val="100000"/>
              <a:buFont typeface="+mj-lt"/>
              <a:buAutoNum type="arabicPeriod" startAt="1"/>
            </a:pPr>
            <a:r>
              <a:rPr lang="en-US" sz="1600" dirty="0">
                <a:solidFill>
                  <a:schemeClr val="tx2"/>
                </a:solidFill>
              </a:rPr>
              <a:t>N. F. Liu et al., Lost in the middle: How language models use long contexts, TACL 2024.</a:t>
            </a:r>
            <a:endParaRPr lang="en-US" sz="1600" dirty="0"/>
          </a:p>
          <a:p>
            <a:pPr marL="342900" indent="-342900">
              <a:spcAft>
                <a:spcPts val="600"/>
              </a:spcAft>
              <a:buSzPct val="100000"/>
              <a:buFont typeface="+mj-lt"/>
              <a:buAutoNum type="arabicPeriod" startAt="1"/>
            </a:pPr>
            <a:r>
              <a:rPr lang="en-US" sz="1600" dirty="0">
                <a:solidFill>
                  <a:schemeClr val="tx2"/>
                </a:solidFill>
              </a:rPr>
              <a:t>Qwen Team, Qwen2.5 technical report, arXiv:2412.15115, 2024.</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10698480" cy="118872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731520" y="2834640"/>
            <a:ext cx="10058400" cy="1005840"/>
          </a:xfrm>
          <a:prstGeom prst="rect">
            <a:avLst/>
          </a:prstGeom>
          <a:noFill/>
          <a:ln/>
        </p:spPr>
        <p:txBody>
          <a:bodyPr wrap="square" lIns="0" tIns="0" rIns="0" bIns="0" rtlCol="0" anchor="t"/>
          <a:lstStyle/>
          <a:p>
            <a:pPr indent="0" marL="0">
              <a:buNone/>
            </a:pPr>
            <a:r>
              <a:rPr lang="en-US" sz="2400" dirty="0">
                <a:solidFill>
                  <a:schemeClr val="bg2"/>
                </a:solidFill>
              </a:rPr>
              <a:t>Questions?</a:t>
            </a:r>
            <a:endParaRPr lang="en-US" sz="2400" dirty="0"/>
          </a:p>
        </p:txBody>
      </p:sp>
      <p:sp>
        <p:nvSpPr>
          <p:cNvPr id="4" name="Text 2"/>
          <p:cNvSpPr txBox="1"/>
          <p:nvPr/>
        </p:nvSpPr>
        <p:spPr>
          <a:xfrm>
            <a:off x="731520" y="4297680"/>
            <a:ext cx="10058400" cy="457200"/>
          </a:xfrm>
          <a:prstGeom prst="rect">
            <a:avLst/>
          </a:prstGeom>
          <a:noFill/>
          <a:ln/>
        </p:spPr>
        <p:txBody>
          <a:bodyPr wrap="square" lIns="0" tIns="0" rIns="0" bIns="0" rtlCol="0" anchor="t"/>
          <a:lstStyle/>
          <a:p>
            <a:pPr indent="0" marL="0">
              <a:buNone/>
            </a:pPr>
            <a:r>
              <a:rPr lang="en-US" sz="2000" dirty="0">
                <a:solidFill>
                  <a:schemeClr val="bg1"/>
                </a:solidFill>
              </a:rPr>
              <a:t>Pravin Raj  ·  pravinraj2054@gmail.com</a:t>
            </a:r>
            <a:endParaRPr lang="en-US" sz="2000" dirty="0"/>
          </a:p>
        </p:txBody>
      </p:sp>
      <p:sp>
        <p:nvSpPr>
          <p:cNvPr id="5" name="Text 3"/>
          <p:cNvSpPr txBox="1"/>
          <p:nvPr/>
        </p:nvSpPr>
        <p:spPr>
          <a:xfrm>
            <a:off x="731520" y="4754880"/>
            <a:ext cx="10058400" cy="457200"/>
          </a:xfrm>
          <a:prstGeom prst="rect">
            <a:avLst/>
          </a:prstGeom>
          <a:noFill/>
          <a:ln/>
        </p:spPr>
        <p:txBody>
          <a:bodyPr wrap="square" lIns="0" tIns="0" rIns="0" bIns="0" rtlCol="0" anchor="t"/>
          <a:lstStyle/>
          <a:p>
            <a:pPr indent="0" marL="0">
              <a:buNone/>
            </a:pPr>
            <a:r>
              <a:rPr lang="en-US" sz="2000" dirty="0">
                <a:solidFill>
                  <a:schemeClr val="bg1"/>
                </a:solidFill>
              </a:rPr>
              <a:t>Narendra R</a:t>
            </a:r>
            <a:endParaRPr lang="en-US" sz="2000" dirty="0"/>
          </a:p>
        </p:txBody>
      </p:sp>
      <p:sp>
        <p:nvSpPr>
          <p:cNvPr id="6" name="Text 4"/>
          <p:cNvSpPr txBox="1"/>
          <p:nvPr/>
        </p:nvSpPr>
        <p:spPr>
          <a:xfrm>
            <a:off x="731520" y="5257800"/>
            <a:ext cx="10058400" cy="411480"/>
          </a:xfrm>
          <a:prstGeom prst="rect">
            <a:avLst/>
          </a:prstGeom>
          <a:noFill/>
          <a:ln/>
        </p:spPr>
        <p:txBody>
          <a:bodyPr wrap="square" lIns="0" tIns="0" rIns="0" bIns="0" rtlCol="0" anchor="t"/>
          <a:lstStyle/>
          <a:p>
            <a:pPr indent="0" marL="0">
              <a:buNone/>
            </a:pPr>
            <a:r>
              <a:rPr lang="en-US" sz="1600" dirty="0">
                <a:solidFill>
                  <a:schemeClr val="bg2"/>
                </a:solidFill>
              </a:rPr>
              <a:t>School of Artificial Intelligence, Amrita Vishwa Vidyapeetham</a:t>
            </a:r>
            <a:endParaRPr lang="en-US" sz="1600" dirty="0"/>
          </a:p>
        </p:txBody>
      </p:sp>
    </p:spTree>
  </p:cSld>
  <p:clrMapOvr>
    <a:masterClrMapping/>
  </p:clrMapOvr>
</p:sld>
</file>

<file path=ppt/theme/theme1.xml><?xml version="1.0" encoding="utf-8"?>
<a:theme xmlns:a="http://schemas.openxmlformats.org/drawingml/2006/main" name="DeltaContext">
  <a:themeElements>
    <a:clrScheme name="DeltaContext">
      <a:dk1>
        <a:srgbClr val="1B1F3B"/>
      </a:dk1>
      <a:lt1>
        <a:srgbClr val="FFFFFF"/>
      </a:lt1>
      <a:dk2>
        <a:srgbClr val="3A4060"/>
      </a:dk2>
      <a:lt2>
        <a:srgbClr val="F2F4F8"/>
      </a:lt2>
      <a:accent1>
        <a:srgbClr val="2A78D6"/>
      </a:accent1>
      <a:accent2>
        <a:srgbClr val="EB6834"/>
      </a:accent2>
      <a:accent3>
        <a:srgbClr val="1BAF7A"/>
      </a:accent3>
      <a:accent4>
        <a:srgbClr val="EDA100"/>
      </a:accent4>
      <a:accent5>
        <a:srgbClr val="E87BA4"/>
      </a:accent5>
      <a:accent6>
        <a:srgbClr val="6B7280"/>
      </a:accent6>
      <a:hlink>
        <a:srgbClr val="2A78D6"/>
      </a:hlink>
      <a:folHlink>
        <a:srgbClr val="6B7280"/>
      </a:folHlink>
    </a:clrScheme>
    <a:fontScheme name="DeltaContex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School of Artificial Intelligence, Amrita Vishwa Vidyapeetham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ΔContext-R: Budget-Aware Retrieval over an Online Topic Store</dc:title>
  <dc:subject>PptxGenJS Presentation</dc:subject>
  <dc:creator>Pravin Raj, Narendra R</dc:creator>
  <cp:lastModifiedBy>Pravin Raj, Narendra R</cp:lastModifiedBy>
  <cp:revision>1</cp:revision>
  <dcterms:created xsi:type="dcterms:W3CDTF">2026-10-16T03:45:58Z</dcterms:created>
  <dcterms:modified xsi:type="dcterms:W3CDTF">2026-10-16T03:45:58Z</dcterms:modified>
</cp:coreProperties>
</file>